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9" r:id="rId9"/>
    <p:sldId id="263" r:id="rId10"/>
    <p:sldId id="264" r:id="rId11"/>
    <p:sldId id="267" r:id="rId12"/>
    <p:sldId id="268" r:id="rId13"/>
    <p:sldId id="270" r:id="rId14"/>
    <p:sldId id="271" r:id="rId15"/>
    <p:sldId id="26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08"/>
    <p:restoredTop sz="94610"/>
  </p:normalViewPr>
  <p:slideViewPr>
    <p:cSldViewPr snapToGrid="0" snapToObjects="1">
      <p:cViewPr varScale="1">
        <p:scale>
          <a:sx n="118" d="100"/>
          <a:sy n="118" d="100"/>
        </p:scale>
        <p:origin x="41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279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D33C5F-D2DE-34FC-6540-942B80CE8BD0}"/>
              </a:ext>
            </a:extLst>
          </p:cNvPr>
          <p:cNvSpPr txBox="1"/>
          <p:nvPr>
            <p:extLst>
              <p:ext uri="{1162E1C5-73C7-4A58-AE30-91384D911F3F}">
                <p184:classification xmlns:p184="http://schemas.microsoft.com/office/powerpoint/2018/4/main" val="ftr"/>
              </p:ext>
            </p:extLst>
          </p:nvPr>
        </p:nvSpPr>
        <p:spPr>
          <a:xfrm>
            <a:off x="63500" y="6779260"/>
            <a:ext cx="7938" cy="15240"/>
          </a:xfrm>
          <a:prstGeom prst="rect">
            <a:avLst/>
          </a:prstGeom>
        </p:spPr>
        <p:txBody>
          <a:bodyPr horzOverflow="overflow" lIns="0" tIns="0" rIns="0" bIns="0">
            <a:spAutoFit/>
          </a:bodyPr>
          <a:lstStyle/>
          <a:p>
            <a:pPr algn="l"/>
            <a:r>
              <a:rPr lang="en-US" sz="100">
                <a:solidFill>
                  <a:srgbClr val="000000">
                    <a:alpha val="50000"/>
                  </a:srgbClr>
                </a:solidFill>
                <a:latin typeface="Aptos" panose="020B0004020202020204" pitchFamily="34" charset="0"/>
              </a:rPr>
              <a:t>-</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share.google/aimode/PgbdxsydsfD1rbZt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share.google/aimode/PgbdxsydsfD1rbZt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share.google/aimode/PgbdxsydsfD1rbZtF"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chatgpt.com/share/69f0f988-9b1c-8320-b9f8-30cbe2667166"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F"/>
        </a:solidFill>
        <a:effectLst/>
      </p:bgPr>
    </p:bg>
    <p:spTree>
      <p:nvGrpSpPr>
        <p:cNvPr id="1" name=""/>
        <p:cNvGrpSpPr/>
        <p:nvPr/>
      </p:nvGrpSpPr>
      <p:grpSpPr>
        <a:xfrm>
          <a:off x="0" y="0"/>
          <a:ext cx="0" cy="0"/>
          <a:chOff x="0" y="0"/>
          <a:chExt cx="0" cy="0"/>
        </a:xfrm>
      </p:grpSpPr>
      <p:sp>
        <p:nvSpPr>
          <p:cNvPr id="2" name="Text 0"/>
          <p:cNvSpPr/>
          <p:nvPr/>
        </p:nvSpPr>
        <p:spPr>
          <a:xfrm>
            <a:off x="640080" y="548640"/>
            <a:ext cx="7315200" cy="320040"/>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GEO  /  GENERATIVE ENGINE OPTIMIZATION</a:t>
            </a:r>
            <a:endParaRPr lang="en-US" sz="1100" dirty="0"/>
          </a:p>
        </p:txBody>
      </p:sp>
      <p:sp>
        <p:nvSpPr>
          <p:cNvPr id="3" name="Shape 1"/>
          <p:cNvSpPr/>
          <p:nvPr/>
        </p:nvSpPr>
        <p:spPr>
          <a:xfrm>
            <a:off x="640080" y="2560320"/>
            <a:ext cx="164592" cy="164592"/>
          </a:xfrm>
          <a:prstGeom prst="ellipse">
            <a:avLst/>
          </a:prstGeom>
          <a:solidFill>
            <a:srgbClr val="E85D3C"/>
          </a:solidFill>
          <a:ln/>
        </p:spPr>
        <p:txBody>
          <a:bodyPr/>
          <a:lstStyle/>
          <a:p>
            <a:endParaRPr lang="en-US"/>
          </a:p>
        </p:txBody>
      </p:sp>
      <p:sp>
        <p:nvSpPr>
          <p:cNvPr id="4" name="Text 2"/>
          <p:cNvSpPr/>
          <p:nvPr/>
        </p:nvSpPr>
        <p:spPr>
          <a:xfrm>
            <a:off x="640080" y="2743200"/>
            <a:ext cx="109728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GPL 1% Plan</a:t>
            </a:r>
            <a:endParaRPr lang="en-US" sz="5600" dirty="0"/>
          </a:p>
        </p:txBody>
      </p:sp>
      <p:sp>
        <p:nvSpPr>
          <p:cNvPr id="5" name="Text 3"/>
          <p:cNvSpPr/>
          <p:nvPr/>
        </p:nvSpPr>
        <p:spPr>
          <a:xfrm>
            <a:off x="640080" y="3703320"/>
            <a:ext cx="10972800" cy="640080"/>
          </a:xfrm>
          <a:prstGeom prst="rect">
            <a:avLst/>
          </a:prstGeom>
          <a:noFill/>
          <a:ln/>
        </p:spPr>
        <p:txBody>
          <a:bodyPr wrap="square" lIns="0" tIns="0" rIns="0" bIns="0" rtlCol="0" anchor="ctr"/>
          <a:lstStyle/>
          <a:p>
            <a:pPr marL="0" indent="0">
              <a:buNone/>
            </a:pPr>
            <a:r>
              <a:rPr lang="en-US" sz="2600" dirty="0">
                <a:solidFill>
                  <a:srgbClr val="CADCFC"/>
                </a:solidFill>
                <a:latin typeface="Calibri" pitchFamily="34" charset="0"/>
                <a:ea typeface="Calibri" pitchFamily="34" charset="-122"/>
                <a:cs typeface="Calibri" pitchFamily="34" charset="-120"/>
              </a:rPr>
              <a:t>Pre-Work vs Post-Work Results &amp; Narrative Shift</a:t>
            </a:r>
            <a:endParaRPr lang="en-US" sz="2600" dirty="0"/>
          </a:p>
        </p:txBody>
      </p:sp>
      <p:sp>
        <p:nvSpPr>
          <p:cNvPr id="6" name="Text 4"/>
          <p:cNvSpPr/>
          <p:nvPr/>
        </p:nvSpPr>
        <p:spPr>
          <a:xfrm>
            <a:off x="640080" y="4572000"/>
            <a:ext cx="10972800" cy="54864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From scattered broker citations to </a:t>
            </a:r>
            <a:r>
              <a:rPr lang="en-US" sz="1600" b="1" i="1" dirty="0">
                <a:solidFill>
                  <a:srgbClr val="E85D3C"/>
                </a:solidFill>
                <a:latin typeface="Calibri" pitchFamily="34" charset="0"/>
                <a:ea typeface="Calibri" pitchFamily="34" charset="-122"/>
                <a:cs typeface="Calibri" pitchFamily="34" charset="-120"/>
              </a:rPr>
              <a:t>lead citations on AI Engines such as Google AI Mode, ChatGPT </a:t>
            </a:r>
            <a:r>
              <a:rPr lang="en-US" sz="1600" b="1" i="1" dirty="0">
                <a:solidFill>
                  <a:srgbClr val="CADCFC"/>
                </a:solidFill>
                <a:latin typeface="Calibri" pitchFamily="34" charset="0"/>
                <a:ea typeface="Calibri" pitchFamily="34" charset="-122"/>
                <a:cs typeface="Calibri" pitchFamily="34" charset="-120"/>
              </a:rPr>
              <a:t>-</a:t>
            </a:r>
            <a:r>
              <a:rPr lang="en-US" sz="1600" i="1" dirty="0">
                <a:solidFill>
                  <a:srgbClr val="CADCFC"/>
                </a:solidFill>
                <a:latin typeface="Calibri" pitchFamily="34" charset="0"/>
                <a:ea typeface="Calibri" pitchFamily="34" charset="-122"/>
                <a:cs typeface="Calibri" pitchFamily="34" charset="-120"/>
              </a:rPr>
              <a:t> within days.</a:t>
            </a:r>
            <a:endParaRPr lang="en-US" sz="1600" dirty="0"/>
          </a:p>
        </p:txBody>
      </p:sp>
      <p:sp>
        <p:nvSpPr>
          <p:cNvPr id="7" name="Shape 5"/>
          <p:cNvSpPr/>
          <p:nvPr/>
        </p:nvSpPr>
        <p:spPr>
          <a:xfrm>
            <a:off x="640080" y="6126480"/>
            <a:ext cx="1371600" cy="36576"/>
          </a:xfrm>
          <a:prstGeom prst="rect">
            <a:avLst/>
          </a:prstGeom>
          <a:solidFill>
            <a:srgbClr val="E85D3C"/>
          </a:solidFill>
          <a:ln/>
        </p:spPr>
        <p:txBody>
          <a:bodyPr/>
          <a:lstStyle/>
          <a:p>
            <a:endParaRPr lang="en-US"/>
          </a:p>
        </p:txBody>
      </p:sp>
      <p:sp>
        <p:nvSpPr>
          <p:cNvPr id="8" name="Text 6"/>
          <p:cNvSpPr/>
          <p:nvPr/>
        </p:nvSpPr>
        <p:spPr>
          <a:xfrm>
            <a:off x="640080" y="6263640"/>
            <a:ext cx="7315200" cy="274320"/>
          </a:xfrm>
          <a:prstGeom prst="rect">
            <a:avLst/>
          </a:prstGeom>
          <a:noFill/>
          <a:ln/>
        </p:spPr>
        <p:txBody>
          <a:bodyPr wrap="square" lIns="0" tIns="0" rIns="0" bIns="0" rtlCol="0" anchor="ctr"/>
          <a:lstStyle/>
          <a:p>
            <a:pPr marL="0" indent="0">
              <a:buNone/>
            </a:pPr>
            <a:r>
              <a:rPr lang="en-US" sz="1100" kern="0" spc="200" dirty="0">
                <a:solidFill>
                  <a:srgbClr val="CADCFC"/>
                </a:solidFill>
                <a:latin typeface="Calibri" pitchFamily="34" charset="0"/>
                <a:ea typeface="Calibri" pitchFamily="34" charset="-122"/>
                <a:cs typeface="Calibri" pitchFamily="34" charset="-120"/>
              </a:rPr>
              <a:t>Validation report by Vansh &amp; Team  /  Google AI Mode + ChatGPT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THE STRATEGIC BET</a:t>
            </a:r>
            <a:endParaRPr lang="en-US" sz="1100" dirty="0"/>
          </a:p>
        </p:txBody>
      </p:sp>
      <p:sp>
        <p:nvSpPr>
          <p:cNvPr id="5" name="Text 3"/>
          <p:cNvSpPr/>
          <p:nvPr/>
        </p:nvSpPr>
        <p:spPr>
          <a:xfrm>
            <a:off x="457200" y="960120"/>
            <a:ext cx="1097280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Why Google AI Mode is the surface that matters</a:t>
            </a:r>
            <a:endParaRPr lang="en-US" sz="2800" dirty="0"/>
          </a:p>
        </p:txBody>
      </p:sp>
      <p:sp>
        <p:nvSpPr>
          <p:cNvPr id="6" name="Text 4"/>
          <p:cNvSpPr/>
          <p:nvPr/>
        </p:nvSpPr>
        <p:spPr>
          <a:xfrm>
            <a:off x="457200" y="1828800"/>
            <a:ext cx="11247120" cy="64008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ChatGPT is powerful, but Google AI Mode is where the average Indian homebuyer actually researches property embedded directly into the default discovery layer.</a:t>
            </a:r>
            <a:endParaRPr lang="en-US" sz="1400" dirty="0"/>
          </a:p>
        </p:txBody>
      </p:sp>
      <p:sp>
        <p:nvSpPr>
          <p:cNvPr id="7" name="Shape 5"/>
          <p:cNvSpPr/>
          <p:nvPr/>
        </p:nvSpPr>
        <p:spPr>
          <a:xfrm>
            <a:off x="457200" y="2743200"/>
            <a:ext cx="5486400" cy="338328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8" name="Text 6"/>
          <p:cNvSpPr/>
          <p:nvPr/>
        </p:nvSpPr>
        <p:spPr>
          <a:xfrm>
            <a:off x="777240" y="3017520"/>
            <a:ext cx="4572000" cy="457200"/>
          </a:xfrm>
          <a:prstGeom prst="rect">
            <a:avLst/>
          </a:prstGeom>
          <a:noFill/>
          <a:ln/>
        </p:spPr>
        <p:txBody>
          <a:bodyPr wrap="square" lIns="0" tIns="0" rIns="0" bIns="0" rtlCol="0" anchor="ctr"/>
          <a:lstStyle/>
          <a:p>
            <a:pPr marL="0" indent="0">
              <a:buNone/>
            </a:pPr>
            <a:r>
              <a:rPr lang="en-US" sz="2200" b="1" dirty="0">
                <a:solidFill>
                  <a:srgbClr val="64748B"/>
                </a:solidFill>
                <a:latin typeface="Calibri" pitchFamily="34" charset="0"/>
                <a:ea typeface="Calibri" pitchFamily="34" charset="-122"/>
                <a:cs typeface="Calibri" pitchFamily="34" charset="-120"/>
              </a:rPr>
              <a:t>ChatGPT</a:t>
            </a:r>
            <a:endParaRPr lang="en-US" sz="2200" dirty="0"/>
          </a:p>
        </p:txBody>
      </p:sp>
      <p:sp>
        <p:nvSpPr>
          <p:cNvPr id="9" name="Text 7"/>
          <p:cNvSpPr/>
          <p:nvPr/>
        </p:nvSpPr>
        <p:spPr>
          <a:xfrm>
            <a:off x="777240" y="3520440"/>
            <a:ext cx="4846320" cy="36576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Early-adopter audience</a:t>
            </a:r>
            <a:endParaRPr lang="en-US" sz="1200" dirty="0"/>
          </a:p>
        </p:txBody>
      </p:sp>
      <p:sp>
        <p:nvSpPr>
          <p:cNvPr id="10" name="Text 8"/>
          <p:cNvSpPr/>
          <p:nvPr/>
        </p:nvSpPr>
        <p:spPr>
          <a:xfrm>
            <a:off x="777240" y="4023360"/>
            <a:ext cx="484632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Powerful citation surface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Strong for tech-savvy buyers and investors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Used for deeper due-diligence research</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Lower discovery volume in Indian property market</a:t>
            </a:r>
            <a:endParaRPr lang="en-US" sz="1300" dirty="0"/>
          </a:p>
        </p:txBody>
      </p:sp>
      <p:sp>
        <p:nvSpPr>
          <p:cNvPr id="11" name="Shape 9"/>
          <p:cNvSpPr/>
          <p:nvPr/>
        </p:nvSpPr>
        <p:spPr>
          <a:xfrm>
            <a:off x="6245352" y="2743200"/>
            <a:ext cx="5486400" cy="3383280"/>
          </a:xfrm>
          <a:prstGeom prst="rect">
            <a:avLst/>
          </a:prstGeom>
          <a:solidFill>
            <a:srgbClr val="0F1F3F"/>
          </a:solidFill>
          <a:ln/>
          <a:effectLst>
            <a:outerShdw blurRad="152400" dist="38100" dir="5400000" algn="bl" rotWithShape="0">
              <a:srgbClr val="000000">
                <a:alpha val="15000"/>
              </a:srgbClr>
            </a:outerShdw>
          </a:effectLst>
        </p:spPr>
        <p:txBody>
          <a:bodyPr/>
          <a:lstStyle/>
          <a:p>
            <a:endParaRPr lang="en-US"/>
          </a:p>
        </p:txBody>
      </p:sp>
      <p:sp>
        <p:nvSpPr>
          <p:cNvPr id="12" name="Shape 10"/>
          <p:cNvSpPr/>
          <p:nvPr/>
        </p:nvSpPr>
        <p:spPr>
          <a:xfrm>
            <a:off x="6245352" y="2743200"/>
            <a:ext cx="5486400" cy="109728"/>
          </a:xfrm>
          <a:prstGeom prst="rect">
            <a:avLst/>
          </a:prstGeom>
          <a:solidFill>
            <a:srgbClr val="E85D3C"/>
          </a:solidFill>
          <a:ln/>
        </p:spPr>
        <p:txBody>
          <a:bodyPr/>
          <a:lstStyle/>
          <a:p>
            <a:endParaRPr lang="en-US"/>
          </a:p>
        </p:txBody>
      </p:sp>
      <p:sp>
        <p:nvSpPr>
          <p:cNvPr id="13" name="Text 11"/>
          <p:cNvSpPr/>
          <p:nvPr/>
        </p:nvSpPr>
        <p:spPr>
          <a:xfrm>
            <a:off x="6565392" y="3017520"/>
            <a:ext cx="45720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Google AI Mode</a:t>
            </a:r>
            <a:endParaRPr lang="en-US" sz="2200" dirty="0"/>
          </a:p>
        </p:txBody>
      </p:sp>
      <p:sp>
        <p:nvSpPr>
          <p:cNvPr id="14" name="Text 12"/>
          <p:cNvSpPr/>
          <p:nvPr/>
        </p:nvSpPr>
        <p:spPr>
          <a:xfrm>
            <a:off x="6565392" y="3520440"/>
            <a:ext cx="4846320" cy="365760"/>
          </a:xfrm>
          <a:prstGeom prst="rect">
            <a:avLst/>
          </a:prstGeom>
          <a:noFill/>
          <a:ln/>
        </p:spPr>
        <p:txBody>
          <a:bodyPr wrap="square" lIns="0" tIns="0" rIns="0" bIns="0" rtlCol="0" anchor="ctr"/>
          <a:lstStyle/>
          <a:p>
            <a:pPr marL="0" indent="0">
              <a:buNone/>
            </a:pPr>
            <a:r>
              <a:rPr lang="en-US" sz="1200" i="1" dirty="0">
                <a:solidFill>
                  <a:srgbClr val="E85D3C"/>
                </a:solidFill>
                <a:latin typeface="Calibri" pitchFamily="34" charset="0"/>
                <a:ea typeface="Calibri" pitchFamily="34" charset="-122"/>
                <a:cs typeface="Calibri" pitchFamily="34" charset="-120"/>
              </a:rPr>
              <a:t>Where the average homebuyer searches</a:t>
            </a:r>
            <a:endParaRPr lang="en-US" sz="1200" dirty="0"/>
          </a:p>
        </p:txBody>
      </p:sp>
      <p:sp>
        <p:nvSpPr>
          <p:cNvPr id="15" name="Text 13"/>
          <p:cNvSpPr/>
          <p:nvPr/>
        </p:nvSpPr>
        <p:spPr>
          <a:xfrm>
            <a:off x="6565392" y="4023360"/>
            <a:ext cx="484632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Embedded into Google Search itself</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Default discovery layer for Indian property research</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High commercial intent, mass-market reach</a:t>
            </a:r>
            <a:endParaRPr lang="en-US" sz="1300" dirty="0"/>
          </a:p>
          <a:p>
            <a:pPr marL="342900" indent="-342900">
              <a:spcAft>
                <a:spcPts val="800"/>
              </a:spcAft>
              <a:buSzPct val="100000"/>
              <a:buChar char="•"/>
            </a:pPr>
            <a:r>
              <a:rPr lang="en-US" sz="1300" b="1" dirty="0">
                <a:solidFill>
                  <a:srgbClr val="FFFFFF"/>
                </a:solidFill>
                <a:latin typeface="Calibri" pitchFamily="34" charset="0"/>
                <a:ea typeface="Calibri" pitchFamily="34" charset="-122"/>
                <a:cs typeface="Calibri" pitchFamily="34" charset="-120"/>
              </a:rPr>
              <a:t>Winning here = winning the consumer funnel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DC2626"/>
                </a:solidFill>
                <a:latin typeface="Calibri" pitchFamily="34" charset="0"/>
                <a:ea typeface="Calibri" pitchFamily="34" charset="-122"/>
                <a:cs typeface="Calibri" pitchFamily="34" charset="-120"/>
              </a:rPr>
              <a:t>THE STARTING POINT</a:t>
            </a:r>
            <a:endParaRPr lang="en-US" sz="1100" dirty="0"/>
          </a:p>
        </p:txBody>
      </p:sp>
      <p:sp>
        <p:nvSpPr>
          <p:cNvPr id="5" name="Text 3"/>
          <p:cNvSpPr/>
          <p:nvPr/>
        </p:nvSpPr>
        <p:spPr>
          <a:xfrm>
            <a:off x="457200" y="960120"/>
            <a:ext cx="1097280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Pre-work: where GPL stood in AI search</a:t>
            </a:r>
            <a:endParaRPr lang="en-US" sz="2800" dirty="0"/>
          </a:p>
        </p:txBody>
      </p:sp>
      <p:sp>
        <p:nvSpPr>
          <p:cNvPr id="6" name="Text 4"/>
          <p:cNvSpPr/>
          <p:nvPr/>
        </p:nvSpPr>
        <p:spPr>
          <a:xfrm>
            <a:off x="457200" y="1828800"/>
            <a:ext cx="1124712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Before this engagement, our exposure inside AI-generated answers was minimal and often the narrative was working against us.</a:t>
            </a:r>
            <a:endParaRPr lang="en-US" sz="1400" dirty="0"/>
          </a:p>
        </p:txBody>
      </p:sp>
      <p:sp>
        <p:nvSpPr>
          <p:cNvPr id="7" name="Shape 5"/>
          <p:cNvSpPr/>
          <p:nvPr/>
        </p:nvSpPr>
        <p:spPr>
          <a:xfrm>
            <a:off x="457200" y="2606040"/>
            <a:ext cx="3703320" cy="32918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8" name="Shape 6"/>
          <p:cNvSpPr/>
          <p:nvPr/>
        </p:nvSpPr>
        <p:spPr>
          <a:xfrm>
            <a:off x="457200" y="2606040"/>
            <a:ext cx="73152" cy="3291840"/>
          </a:xfrm>
          <a:prstGeom prst="rect">
            <a:avLst/>
          </a:prstGeom>
          <a:solidFill>
            <a:srgbClr val="DC2626"/>
          </a:solidFill>
          <a:ln/>
        </p:spPr>
        <p:txBody>
          <a:bodyPr/>
          <a:lstStyle/>
          <a:p>
            <a:endParaRPr lang="en-US"/>
          </a:p>
        </p:txBody>
      </p:sp>
      <p:sp>
        <p:nvSpPr>
          <p:cNvPr id="9" name="Text 7"/>
          <p:cNvSpPr/>
          <p:nvPr/>
        </p:nvSpPr>
        <p:spPr>
          <a:xfrm>
            <a:off x="777240" y="2880360"/>
            <a:ext cx="1371600" cy="457200"/>
          </a:xfrm>
          <a:prstGeom prst="rect">
            <a:avLst/>
          </a:prstGeom>
          <a:noFill/>
          <a:ln/>
        </p:spPr>
        <p:txBody>
          <a:bodyPr wrap="square" lIns="0" tIns="0" rIns="0" bIns="0" rtlCol="0" anchor="ctr"/>
          <a:lstStyle/>
          <a:p>
            <a:pPr marL="0" indent="0">
              <a:buNone/>
            </a:pPr>
            <a:r>
              <a:rPr lang="en-US" sz="1200" b="1" kern="0" spc="400" dirty="0">
                <a:solidFill>
                  <a:srgbClr val="DC2626"/>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777240" y="3246120"/>
            <a:ext cx="3200400" cy="777240"/>
          </a:xfrm>
          <a:prstGeom prst="rect">
            <a:avLst/>
          </a:prstGeom>
          <a:noFill/>
          <a:ln/>
        </p:spPr>
        <p:txBody>
          <a:bodyPr wrap="square" lIns="0" tIns="0" rIns="0" bIns="0" rtlCol="0" anchor="t"/>
          <a:lstStyle/>
          <a:p>
            <a:pPr marL="0" indent="0">
              <a:buNone/>
            </a:pPr>
            <a:r>
              <a:rPr lang="en-US" sz="1700" b="1" dirty="0">
                <a:solidFill>
                  <a:srgbClr val="0F1F3F"/>
                </a:solidFill>
                <a:latin typeface="Calibri" pitchFamily="34" charset="0"/>
                <a:ea typeface="Calibri" pitchFamily="34" charset="-122"/>
                <a:cs typeface="Calibri" pitchFamily="34" charset="-120"/>
              </a:rPr>
              <a:t>Broker sites dominated citations</a:t>
            </a:r>
            <a:endParaRPr lang="en-US" sz="1700" dirty="0"/>
          </a:p>
        </p:txBody>
      </p:sp>
      <p:sp>
        <p:nvSpPr>
          <p:cNvPr id="11" name="Text 9"/>
          <p:cNvSpPr/>
          <p:nvPr/>
        </p:nvSpPr>
        <p:spPr>
          <a:xfrm>
            <a:off x="777240" y="4114800"/>
            <a:ext cx="3200400" cy="169164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MagicBricks, 99acres, NoBroker, SquareYards and broker microsites were the default sources AI models pulled from for any 1% plan query.</a:t>
            </a:r>
            <a:endParaRPr lang="en-US" sz="1300" dirty="0"/>
          </a:p>
        </p:txBody>
      </p:sp>
      <p:sp>
        <p:nvSpPr>
          <p:cNvPr id="12" name="Shape 10"/>
          <p:cNvSpPr/>
          <p:nvPr/>
        </p:nvSpPr>
        <p:spPr>
          <a:xfrm>
            <a:off x="4343400" y="2606040"/>
            <a:ext cx="3703320" cy="32918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3" name="Shape 11"/>
          <p:cNvSpPr/>
          <p:nvPr/>
        </p:nvSpPr>
        <p:spPr>
          <a:xfrm>
            <a:off x="4343400" y="2606040"/>
            <a:ext cx="73152" cy="3291840"/>
          </a:xfrm>
          <a:prstGeom prst="rect">
            <a:avLst/>
          </a:prstGeom>
          <a:solidFill>
            <a:srgbClr val="DC2626"/>
          </a:solidFill>
          <a:ln/>
        </p:spPr>
        <p:txBody>
          <a:bodyPr/>
          <a:lstStyle/>
          <a:p>
            <a:endParaRPr lang="en-US"/>
          </a:p>
        </p:txBody>
      </p:sp>
      <p:sp>
        <p:nvSpPr>
          <p:cNvPr id="14" name="Text 12"/>
          <p:cNvSpPr/>
          <p:nvPr/>
        </p:nvSpPr>
        <p:spPr>
          <a:xfrm>
            <a:off x="4663440" y="2880360"/>
            <a:ext cx="1371600" cy="457200"/>
          </a:xfrm>
          <a:prstGeom prst="rect">
            <a:avLst/>
          </a:prstGeom>
          <a:noFill/>
          <a:ln/>
        </p:spPr>
        <p:txBody>
          <a:bodyPr wrap="square" lIns="0" tIns="0" rIns="0" bIns="0" rtlCol="0" anchor="ctr"/>
          <a:lstStyle/>
          <a:p>
            <a:pPr marL="0" indent="0">
              <a:buNone/>
            </a:pPr>
            <a:r>
              <a:rPr lang="en-US" sz="1200" b="1" kern="0" spc="400" dirty="0">
                <a:solidFill>
                  <a:srgbClr val="DC2626"/>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4663440" y="3246120"/>
            <a:ext cx="3200400" cy="777240"/>
          </a:xfrm>
          <a:prstGeom prst="rect">
            <a:avLst/>
          </a:prstGeom>
          <a:noFill/>
          <a:ln/>
        </p:spPr>
        <p:txBody>
          <a:bodyPr wrap="square" lIns="0" tIns="0" rIns="0" bIns="0" rtlCol="0" anchor="t"/>
          <a:lstStyle/>
          <a:p>
            <a:pPr marL="0" indent="0">
              <a:buNone/>
            </a:pPr>
            <a:r>
              <a:rPr lang="en-US" sz="1700" b="1" dirty="0">
                <a:solidFill>
                  <a:srgbClr val="0F1F3F"/>
                </a:solidFill>
                <a:latin typeface="Calibri" pitchFamily="34" charset="0"/>
                <a:ea typeface="Calibri" pitchFamily="34" charset="-122"/>
                <a:cs typeface="Calibri" pitchFamily="34" charset="-120"/>
              </a:rPr>
              <a:t>Sceptical narrative was sticking</a:t>
            </a:r>
            <a:endParaRPr lang="en-US" sz="1700" dirty="0"/>
          </a:p>
        </p:txBody>
      </p:sp>
      <p:sp>
        <p:nvSpPr>
          <p:cNvPr id="16" name="Text 14"/>
          <p:cNvSpPr/>
          <p:nvPr/>
        </p:nvSpPr>
        <p:spPr>
          <a:xfrm>
            <a:off x="4663440" y="4114800"/>
            <a:ext cx="3200400" cy="169164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AI answers framed the 1% plan as a “marketing stunt with hidden financial tricks.” Reddit threads and review sites shaped the tone.</a:t>
            </a:r>
            <a:endParaRPr lang="en-US" sz="1300" dirty="0"/>
          </a:p>
        </p:txBody>
      </p:sp>
      <p:sp>
        <p:nvSpPr>
          <p:cNvPr id="17" name="Shape 15"/>
          <p:cNvSpPr/>
          <p:nvPr/>
        </p:nvSpPr>
        <p:spPr>
          <a:xfrm>
            <a:off x="8229600" y="2606040"/>
            <a:ext cx="3703320" cy="32918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8" name="Shape 16"/>
          <p:cNvSpPr/>
          <p:nvPr/>
        </p:nvSpPr>
        <p:spPr>
          <a:xfrm>
            <a:off x="8229600" y="2606040"/>
            <a:ext cx="73152" cy="3291840"/>
          </a:xfrm>
          <a:prstGeom prst="rect">
            <a:avLst/>
          </a:prstGeom>
          <a:solidFill>
            <a:srgbClr val="DC2626"/>
          </a:solidFill>
          <a:ln/>
        </p:spPr>
        <p:txBody>
          <a:bodyPr/>
          <a:lstStyle/>
          <a:p>
            <a:endParaRPr lang="en-US"/>
          </a:p>
        </p:txBody>
      </p:sp>
      <p:sp>
        <p:nvSpPr>
          <p:cNvPr id="19" name="Text 17"/>
          <p:cNvSpPr/>
          <p:nvPr/>
        </p:nvSpPr>
        <p:spPr>
          <a:xfrm>
            <a:off x="8549640" y="2880360"/>
            <a:ext cx="1371600" cy="457200"/>
          </a:xfrm>
          <a:prstGeom prst="rect">
            <a:avLst/>
          </a:prstGeom>
          <a:noFill/>
          <a:ln/>
        </p:spPr>
        <p:txBody>
          <a:bodyPr wrap="square" lIns="0" tIns="0" rIns="0" bIns="0" rtlCol="0" anchor="ctr"/>
          <a:lstStyle/>
          <a:p>
            <a:pPr marL="0" indent="0">
              <a:buNone/>
            </a:pPr>
            <a:r>
              <a:rPr lang="en-US" sz="1200" b="1" kern="0" spc="400" dirty="0">
                <a:solidFill>
                  <a:srgbClr val="DC2626"/>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8549640" y="3246120"/>
            <a:ext cx="3200400" cy="777240"/>
          </a:xfrm>
          <a:prstGeom prst="rect">
            <a:avLst/>
          </a:prstGeom>
          <a:noFill/>
          <a:ln/>
        </p:spPr>
        <p:txBody>
          <a:bodyPr wrap="square" lIns="0" tIns="0" rIns="0" bIns="0" rtlCol="0" anchor="t"/>
          <a:lstStyle/>
          <a:p>
            <a:pPr marL="0" indent="0">
              <a:buNone/>
            </a:pPr>
            <a:r>
              <a:rPr lang="en-US" sz="1700" b="1" dirty="0">
                <a:solidFill>
                  <a:srgbClr val="0F1F3F"/>
                </a:solidFill>
                <a:latin typeface="Calibri" pitchFamily="34" charset="0"/>
                <a:ea typeface="Calibri" pitchFamily="34" charset="-122"/>
                <a:cs typeface="Calibri" pitchFamily="34" charset="-120"/>
              </a:rPr>
              <a:t>No Godrej page indexed for the plan</a:t>
            </a:r>
            <a:endParaRPr lang="en-US" sz="1700" dirty="0"/>
          </a:p>
        </p:txBody>
      </p:sp>
      <p:sp>
        <p:nvSpPr>
          <p:cNvPr id="21" name="Text 19"/>
          <p:cNvSpPr/>
          <p:nvPr/>
        </p:nvSpPr>
        <p:spPr>
          <a:xfrm>
            <a:off x="8549640" y="4114800"/>
            <a:ext cx="3200400" cy="169164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The official 1% plan project pages didn't exist  leaving brand control of a flagship financial product entirely in third-party hands.</a:t>
            </a:r>
            <a:endParaRPr lang="en-US" sz="1300" dirty="0"/>
          </a:p>
        </p:txBody>
      </p:sp>
      <p:sp>
        <p:nvSpPr>
          <p:cNvPr id="22" name="Shape 20"/>
          <p:cNvSpPr/>
          <p:nvPr/>
        </p:nvSpPr>
        <p:spPr>
          <a:xfrm>
            <a:off x="457200" y="6080760"/>
            <a:ext cx="11247120" cy="502920"/>
          </a:xfrm>
          <a:prstGeom prst="rect">
            <a:avLst/>
          </a:prstGeom>
          <a:solidFill>
            <a:srgbClr val="0F1F3F"/>
          </a:solidFill>
          <a:ln/>
        </p:spPr>
        <p:txBody>
          <a:bodyPr/>
          <a:lstStyle/>
          <a:p>
            <a:endParaRPr lang="en-US"/>
          </a:p>
        </p:txBody>
      </p:sp>
      <p:sp>
        <p:nvSpPr>
          <p:cNvPr id="23" name="Text 21"/>
          <p:cNvSpPr/>
          <p:nvPr/>
        </p:nvSpPr>
        <p:spPr>
          <a:xfrm>
            <a:off x="640080" y="6080760"/>
            <a:ext cx="10972800" cy="502920"/>
          </a:xfrm>
          <a:prstGeom prst="rect">
            <a:avLst/>
          </a:prstGeom>
          <a:noFill/>
          <a:ln/>
        </p:spPr>
        <p:txBody>
          <a:bodyPr wrap="square" lIns="0" tIns="0" rIns="0" bIns="0" rtlCol="0" anchor="ctr"/>
          <a:lstStyle/>
          <a:p>
            <a:pPr marL="0" indent="0">
              <a:buNone/>
            </a:pPr>
            <a:r>
              <a:rPr lang="en-US" sz="1300" b="1" dirty="0">
                <a:solidFill>
                  <a:srgbClr val="E85D3C"/>
                </a:solidFill>
                <a:latin typeface="Calibri" pitchFamily="34" charset="0"/>
                <a:ea typeface="Calibri" pitchFamily="34" charset="-122"/>
                <a:cs typeface="Calibri" pitchFamily="34" charset="-120"/>
              </a:rPr>
              <a:t>Net effect:  </a:t>
            </a:r>
            <a:r>
              <a:rPr lang="en-US" sz="1300" dirty="0">
                <a:solidFill>
                  <a:srgbClr val="FFFFFF"/>
                </a:solidFill>
                <a:latin typeface="Calibri" pitchFamily="34" charset="0"/>
                <a:ea typeface="Calibri" pitchFamily="34" charset="-122"/>
                <a:cs typeface="Calibri" pitchFamily="34" charset="-120"/>
              </a:rPr>
              <a:t>AI-generated answers about the 1% plan were being authored by lot of external sources citing incorrect information.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IMPLEMENTATION</a:t>
            </a:r>
            <a:endParaRPr lang="en-US" sz="1100" dirty="0"/>
          </a:p>
        </p:txBody>
      </p:sp>
      <p:sp>
        <p:nvSpPr>
          <p:cNvPr id="5" name="Text 3"/>
          <p:cNvSpPr/>
          <p:nvPr/>
        </p:nvSpPr>
        <p:spPr>
          <a:xfrm>
            <a:off x="457200" y="960120"/>
            <a:ext cx="1097280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What is executed</a:t>
            </a:r>
            <a:endParaRPr lang="en-US" sz="2800" dirty="0"/>
          </a:p>
        </p:txBody>
      </p:sp>
      <p:sp>
        <p:nvSpPr>
          <p:cNvPr id="6" name="Text 4"/>
          <p:cNvSpPr/>
          <p:nvPr/>
        </p:nvSpPr>
        <p:spPr>
          <a:xfrm>
            <a:off x="457200" y="1828800"/>
            <a:ext cx="1124712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Full GEO groundwork shipped on the Parkshire and Azure 1% plan pages, building a foundation the rest of the portfolio can scale on.</a:t>
            </a:r>
            <a:endParaRPr lang="en-US" sz="1400" dirty="0"/>
          </a:p>
        </p:txBody>
      </p:sp>
      <p:sp>
        <p:nvSpPr>
          <p:cNvPr id="7" name="Shape 5"/>
          <p:cNvSpPr/>
          <p:nvPr/>
        </p:nvSpPr>
        <p:spPr>
          <a:xfrm>
            <a:off x="457200" y="2468880"/>
            <a:ext cx="3703320" cy="16916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8" name="Shape 6"/>
          <p:cNvSpPr/>
          <p:nvPr/>
        </p:nvSpPr>
        <p:spPr>
          <a:xfrm>
            <a:off x="777240" y="2788920"/>
            <a:ext cx="365760" cy="365760"/>
          </a:xfrm>
          <a:prstGeom prst="ellipse">
            <a:avLst/>
          </a:prstGeom>
          <a:solidFill>
            <a:srgbClr val="059669"/>
          </a:solidFill>
          <a:ln/>
        </p:spPr>
        <p:txBody>
          <a:bodyPr/>
          <a:lstStyle/>
          <a:p>
            <a:endParaRPr lang="en-US"/>
          </a:p>
        </p:txBody>
      </p:sp>
      <p:sp>
        <p:nvSpPr>
          <p:cNvPr id="9" name="Text 7"/>
          <p:cNvSpPr/>
          <p:nvPr/>
        </p:nvSpPr>
        <p:spPr>
          <a:xfrm>
            <a:off x="777240" y="278892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280160" y="2743200"/>
            <a:ext cx="2697480" cy="457200"/>
          </a:xfrm>
          <a:prstGeom prst="rect">
            <a:avLst/>
          </a:prstGeom>
          <a:noFill/>
          <a:ln/>
        </p:spPr>
        <p:txBody>
          <a:bodyPr wrap="square" lIns="0" tIns="0" rIns="0" bIns="0" rtlCol="0" anchor="ctr"/>
          <a:lstStyle/>
          <a:p>
            <a:pPr marL="0" indent="0">
              <a:buNone/>
            </a:pPr>
            <a:r>
              <a:rPr lang="en-US" sz="1400" b="1" dirty="0">
                <a:solidFill>
                  <a:srgbClr val="0F1F3F"/>
                </a:solidFill>
                <a:latin typeface="Calibri" pitchFamily="34" charset="0"/>
                <a:ea typeface="Calibri" pitchFamily="34" charset="-122"/>
                <a:cs typeface="Calibri" pitchFamily="34" charset="-120"/>
              </a:rPr>
              <a:t>Pages indexed by Google</a:t>
            </a:r>
            <a:endParaRPr lang="en-US" sz="1400" dirty="0"/>
          </a:p>
        </p:txBody>
      </p:sp>
      <p:sp>
        <p:nvSpPr>
          <p:cNvPr id="11" name="Text 9"/>
          <p:cNvSpPr/>
          <p:nvPr/>
        </p:nvSpPr>
        <p:spPr>
          <a:xfrm>
            <a:off x="1280160" y="3200400"/>
            <a:ext cx="269748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Both 1% plan project pages crawled and live in search results.</a:t>
            </a:r>
            <a:endParaRPr lang="en-US" sz="1100" dirty="0"/>
          </a:p>
        </p:txBody>
      </p:sp>
      <p:sp>
        <p:nvSpPr>
          <p:cNvPr id="12" name="Shape 10"/>
          <p:cNvSpPr/>
          <p:nvPr/>
        </p:nvSpPr>
        <p:spPr>
          <a:xfrm>
            <a:off x="4343400" y="2468880"/>
            <a:ext cx="3703320" cy="16916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3" name="Shape 11"/>
          <p:cNvSpPr/>
          <p:nvPr/>
        </p:nvSpPr>
        <p:spPr>
          <a:xfrm>
            <a:off x="4663440" y="2788920"/>
            <a:ext cx="365760" cy="365760"/>
          </a:xfrm>
          <a:prstGeom prst="ellipse">
            <a:avLst/>
          </a:prstGeom>
          <a:solidFill>
            <a:srgbClr val="059669"/>
          </a:solidFill>
          <a:ln/>
        </p:spPr>
        <p:txBody>
          <a:bodyPr/>
          <a:lstStyle/>
          <a:p>
            <a:endParaRPr lang="en-US"/>
          </a:p>
        </p:txBody>
      </p:sp>
      <p:sp>
        <p:nvSpPr>
          <p:cNvPr id="14" name="Text 12"/>
          <p:cNvSpPr/>
          <p:nvPr/>
        </p:nvSpPr>
        <p:spPr>
          <a:xfrm>
            <a:off x="4663440" y="278892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5166360" y="2743200"/>
            <a:ext cx="2697480" cy="457200"/>
          </a:xfrm>
          <a:prstGeom prst="rect">
            <a:avLst/>
          </a:prstGeom>
          <a:noFill/>
          <a:ln/>
        </p:spPr>
        <p:txBody>
          <a:bodyPr wrap="square" lIns="0" tIns="0" rIns="0" bIns="0" rtlCol="0" anchor="ctr"/>
          <a:lstStyle/>
          <a:p>
            <a:pPr marL="0" indent="0">
              <a:buNone/>
            </a:pPr>
            <a:r>
              <a:rPr lang="en-US" sz="1400" b="1" dirty="0">
                <a:solidFill>
                  <a:srgbClr val="0F1F3F"/>
                </a:solidFill>
                <a:latin typeface="Calibri" pitchFamily="34" charset="0"/>
                <a:ea typeface="Calibri" pitchFamily="34" charset="-122"/>
                <a:cs typeface="Calibri" pitchFamily="34" charset="-120"/>
              </a:rPr>
              <a:t>JSON-LD structured data</a:t>
            </a:r>
            <a:endParaRPr lang="en-US" sz="1400" dirty="0"/>
          </a:p>
        </p:txBody>
      </p:sp>
      <p:sp>
        <p:nvSpPr>
          <p:cNvPr id="16" name="Text 14"/>
          <p:cNvSpPr/>
          <p:nvPr/>
        </p:nvSpPr>
        <p:spPr>
          <a:xfrm>
            <a:off x="5166360" y="3200400"/>
            <a:ext cx="269748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FAQ, RealEstateListing &amp; Organization schema validated as AI-readable.</a:t>
            </a:r>
            <a:endParaRPr lang="en-US" sz="1100" dirty="0"/>
          </a:p>
        </p:txBody>
      </p:sp>
      <p:sp>
        <p:nvSpPr>
          <p:cNvPr id="17" name="Shape 15"/>
          <p:cNvSpPr/>
          <p:nvPr/>
        </p:nvSpPr>
        <p:spPr>
          <a:xfrm>
            <a:off x="8229600" y="2468880"/>
            <a:ext cx="3703320" cy="16916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8" name="Shape 16"/>
          <p:cNvSpPr/>
          <p:nvPr/>
        </p:nvSpPr>
        <p:spPr>
          <a:xfrm>
            <a:off x="8549640" y="2788920"/>
            <a:ext cx="365760" cy="365760"/>
          </a:xfrm>
          <a:prstGeom prst="ellipse">
            <a:avLst/>
          </a:prstGeom>
          <a:solidFill>
            <a:srgbClr val="059669"/>
          </a:solidFill>
          <a:ln/>
        </p:spPr>
        <p:txBody>
          <a:bodyPr/>
          <a:lstStyle/>
          <a:p>
            <a:endParaRPr lang="en-US"/>
          </a:p>
        </p:txBody>
      </p:sp>
      <p:sp>
        <p:nvSpPr>
          <p:cNvPr id="19" name="Text 17"/>
          <p:cNvSpPr/>
          <p:nvPr/>
        </p:nvSpPr>
        <p:spPr>
          <a:xfrm>
            <a:off x="8549640" y="278892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9052560" y="2743200"/>
            <a:ext cx="2697480" cy="457200"/>
          </a:xfrm>
          <a:prstGeom prst="rect">
            <a:avLst/>
          </a:prstGeom>
          <a:noFill/>
          <a:ln/>
        </p:spPr>
        <p:txBody>
          <a:bodyPr wrap="square" lIns="0" tIns="0" rIns="0" bIns="0" rtlCol="0" anchor="ctr"/>
          <a:lstStyle/>
          <a:p>
            <a:pPr marL="0" indent="0">
              <a:buNone/>
            </a:pPr>
            <a:r>
              <a:rPr lang="en-US" sz="1400" b="1" dirty="0">
                <a:solidFill>
                  <a:srgbClr val="0F1F3F"/>
                </a:solidFill>
                <a:latin typeface="Calibri" pitchFamily="34" charset="0"/>
                <a:ea typeface="Calibri" pitchFamily="34" charset="-122"/>
                <a:cs typeface="Calibri" pitchFamily="34" charset="-120"/>
              </a:rPr>
              <a:t>Sitemap + robots.txt audited</a:t>
            </a:r>
            <a:endParaRPr lang="en-US" sz="1400" dirty="0"/>
          </a:p>
        </p:txBody>
      </p:sp>
      <p:sp>
        <p:nvSpPr>
          <p:cNvPr id="21" name="Text 19"/>
          <p:cNvSpPr/>
          <p:nvPr/>
        </p:nvSpPr>
        <p:spPr>
          <a:xfrm>
            <a:off x="9052560" y="3200400"/>
            <a:ext cx="269748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New paths added and resubmitted; crawl directives verified.</a:t>
            </a:r>
            <a:endParaRPr lang="en-US" sz="1100" dirty="0"/>
          </a:p>
        </p:txBody>
      </p:sp>
      <p:sp>
        <p:nvSpPr>
          <p:cNvPr id="22" name="Shape 20"/>
          <p:cNvSpPr/>
          <p:nvPr/>
        </p:nvSpPr>
        <p:spPr>
          <a:xfrm>
            <a:off x="457200" y="4343400"/>
            <a:ext cx="3703320" cy="16916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3" name="Shape 21"/>
          <p:cNvSpPr/>
          <p:nvPr/>
        </p:nvSpPr>
        <p:spPr>
          <a:xfrm>
            <a:off x="777240" y="4663440"/>
            <a:ext cx="365760" cy="365760"/>
          </a:xfrm>
          <a:prstGeom prst="ellipse">
            <a:avLst/>
          </a:prstGeom>
          <a:solidFill>
            <a:srgbClr val="059669"/>
          </a:solidFill>
          <a:ln/>
        </p:spPr>
        <p:txBody>
          <a:bodyPr/>
          <a:lstStyle/>
          <a:p>
            <a:endParaRPr lang="en-US"/>
          </a:p>
        </p:txBody>
      </p:sp>
      <p:sp>
        <p:nvSpPr>
          <p:cNvPr id="24" name="Text 22"/>
          <p:cNvSpPr/>
          <p:nvPr/>
        </p:nvSpPr>
        <p:spPr>
          <a:xfrm>
            <a:off x="777240" y="46634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5" name="Text 23"/>
          <p:cNvSpPr/>
          <p:nvPr/>
        </p:nvSpPr>
        <p:spPr>
          <a:xfrm>
            <a:off x="1280160" y="4617720"/>
            <a:ext cx="2697480" cy="457200"/>
          </a:xfrm>
          <a:prstGeom prst="rect">
            <a:avLst/>
          </a:prstGeom>
          <a:noFill/>
          <a:ln/>
        </p:spPr>
        <p:txBody>
          <a:bodyPr wrap="square" lIns="0" tIns="0" rIns="0" bIns="0" rtlCol="0" anchor="ctr"/>
          <a:lstStyle/>
          <a:p>
            <a:pPr marL="0" indent="0">
              <a:buNone/>
            </a:pPr>
            <a:r>
              <a:rPr lang="en-US" sz="1400" b="1" dirty="0">
                <a:solidFill>
                  <a:srgbClr val="0F1F3F"/>
                </a:solidFill>
                <a:latin typeface="Calibri" pitchFamily="34" charset="0"/>
                <a:ea typeface="Calibri" pitchFamily="34" charset="-122"/>
                <a:cs typeface="Calibri" pitchFamily="34" charset="-120"/>
              </a:rPr>
              <a:t>llms.txt audited</a:t>
            </a:r>
            <a:endParaRPr lang="en-US" sz="1400" dirty="0"/>
          </a:p>
        </p:txBody>
      </p:sp>
      <p:sp>
        <p:nvSpPr>
          <p:cNvPr id="26" name="Text 24"/>
          <p:cNvSpPr/>
          <p:nvPr/>
        </p:nvSpPr>
        <p:spPr>
          <a:xfrm>
            <a:off x="1280160" y="5074920"/>
            <a:ext cx="269748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Manifest of authoritative URLs prepared for LLM crawlers; deploy in flight.</a:t>
            </a:r>
            <a:endParaRPr lang="en-US" sz="1100" dirty="0"/>
          </a:p>
        </p:txBody>
      </p:sp>
      <p:sp>
        <p:nvSpPr>
          <p:cNvPr id="27" name="Shape 25"/>
          <p:cNvSpPr/>
          <p:nvPr/>
        </p:nvSpPr>
        <p:spPr>
          <a:xfrm>
            <a:off x="4343400" y="4343400"/>
            <a:ext cx="3703320" cy="16916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8" name="Shape 26"/>
          <p:cNvSpPr/>
          <p:nvPr/>
        </p:nvSpPr>
        <p:spPr>
          <a:xfrm>
            <a:off x="4663440" y="4663440"/>
            <a:ext cx="365760" cy="365760"/>
          </a:xfrm>
          <a:prstGeom prst="ellipse">
            <a:avLst/>
          </a:prstGeom>
          <a:solidFill>
            <a:srgbClr val="059669"/>
          </a:solidFill>
          <a:ln/>
        </p:spPr>
        <p:txBody>
          <a:bodyPr/>
          <a:lstStyle/>
          <a:p>
            <a:endParaRPr lang="en-US"/>
          </a:p>
        </p:txBody>
      </p:sp>
      <p:sp>
        <p:nvSpPr>
          <p:cNvPr id="29" name="Text 27"/>
          <p:cNvSpPr/>
          <p:nvPr/>
        </p:nvSpPr>
        <p:spPr>
          <a:xfrm>
            <a:off x="4663440" y="46634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8"/>
          <p:cNvSpPr/>
          <p:nvPr/>
        </p:nvSpPr>
        <p:spPr>
          <a:xfrm>
            <a:off x="5166360" y="4617720"/>
            <a:ext cx="2697480" cy="457200"/>
          </a:xfrm>
          <a:prstGeom prst="rect">
            <a:avLst/>
          </a:prstGeom>
          <a:noFill/>
          <a:ln/>
        </p:spPr>
        <p:txBody>
          <a:bodyPr wrap="square" lIns="0" tIns="0" rIns="0" bIns="0" rtlCol="0" anchor="ctr"/>
          <a:lstStyle/>
          <a:p>
            <a:pPr marL="0" indent="0">
              <a:buNone/>
            </a:pPr>
            <a:r>
              <a:rPr lang="en-US" sz="1400" b="1" dirty="0">
                <a:solidFill>
                  <a:srgbClr val="0F1F3F"/>
                </a:solidFill>
                <a:latin typeface="Calibri" pitchFamily="34" charset="0"/>
                <a:ea typeface="Calibri" pitchFamily="34" charset="-122"/>
                <a:cs typeface="Calibri" pitchFamily="34" charset="-120"/>
              </a:rPr>
              <a:t>Lead-gen form live</a:t>
            </a:r>
            <a:endParaRPr lang="en-US" sz="1400" dirty="0"/>
          </a:p>
        </p:txBody>
      </p:sp>
      <p:sp>
        <p:nvSpPr>
          <p:cNvPr id="31" name="Text 29"/>
          <p:cNvSpPr/>
          <p:nvPr/>
        </p:nvSpPr>
        <p:spPr>
          <a:xfrm>
            <a:off x="5166360" y="5074920"/>
            <a:ext cx="269748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Activates 5s into the user's reading session — captures intent at peak attention.</a:t>
            </a:r>
            <a:endParaRPr lang="en-US" sz="1100" dirty="0"/>
          </a:p>
        </p:txBody>
      </p:sp>
      <p:sp>
        <p:nvSpPr>
          <p:cNvPr id="32" name="Shape 30"/>
          <p:cNvSpPr/>
          <p:nvPr/>
        </p:nvSpPr>
        <p:spPr>
          <a:xfrm>
            <a:off x="8229600" y="4343400"/>
            <a:ext cx="3703320" cy="16916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3" name="Shape 31"/>
          <p:cNvSpPr/>
          <p:nvPr/>
        </p:nvSpPr>
        <p:spPr>
          <a:xfrm>
            <a:off x="8549640" y="4663440"/>
            <a:ext cx="365760" cy="365760"/>
          </a:xfrm>
          <a:prstGeom prst="ellipse">
            <a:avLst/>
          </a:prstGeom>
          <a:solidFill>
            <a:srgbClr val="059669"/>
          </a:solidFill>
          <a:ln/>
        </p:spPr>
        <p:txBody>
          <a:bodyPr/>
          <a:lstStyle/>
          <a:p>
            <a:endParaRPr lang="en-US"/>
          </a:p>
        </p:txBody>
      </p:sp>
      <p:sp>
        <p:nvSpPr>
          <p:cNvPr id="34" name="Text 32"/>
          <p:cNvSpPr/>
          <p:nvPr/>
        </p:nvSpPr>
        <p:spPr>
          <a:xfrm>
            <a:off x="8549640" y="46634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5" name="Text 33"/>
          <p:cNvSpPr/>
          <p:nvPr/>
        </p:nvSpPr>
        <p:spPr>
          <a:xfrm>
            <a:off x="9052560" y="4617720"/>
            <a:ext cx="2697480" cy="457200"/>
          </a:xfrm>
          <a:prstGeom prst="rect">
            <a:avLst/>
          </a:prstGeom>
          <a:noFill/>
          <a:ln/>
        </p:spPr>
        <p:txBody>
          <a:bodyPr wrap="square" lIns="0" tIns="0" rIns="0" bIns="0" rtlCol="0" anchor="ctr"/>
          <a:lstStyle/>
          <a:p>
            <a:pPr marL="0" indent="0">
              <a:buNone/>
            </a:pPr>
            <a:r>
              <a:rPr lang="en-US" sz="1400" b="1" dirty="0">
                <a:solidFill>
                  <a:srgbClr val="0F1F3F"/>
                </a:solidFill>
                <a:latin typeface="Calibri" pitchFamily="34" charset="0"/>
                <a:ea typeface="Calibri" pitchFamily="34" charset="-122"/>
                <a:cs typeface="Calibri" pitchFamily="34" charset="-120"/>
              </a:rPr>
              <a:t>Citation activity confirmed</a:t>
            </a:r>
            <a:endParaRPr lang="en-US" sz="1400" dirty="0"/>
          </a:p>
        </p:txBody>
      </p:sp>
      <p:sp>
        <p:nvSpPr>
          <p:cNvPr id="36" name="Text 34"/>
          <p:cNvSpPr/>
          <p:nvPr/>
        </p:nvSpPr>
        <p:spPr>
          <a:xfrm>
            <a:off x="9052560" y="5074920"/>
            <a:ext cx="269748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ChatGPT referrals already landing on the page (?utm_source=chatgpt.com).</a:t>
            </a:r>
            <a:endParaRPr lang="en-US" sz="1100" dirty="0"/>
          </a:p>
        </p:txBody>
      </p:sp>
      <p:sp>
        <p:nvSpPr>
          <p:cNvPr id="37" name="Text 35"/>
          <p:cNvSpPr/>
          <p:nvPr/>
        </p:nvSpPr>
        <p:spPr>
          <a:xfrm>
            <a:off x="457200" y="6263640"/>
            <a:ext cx="11247120" cy="365760"/>
          </a:xfrm>
          <a:prstGeom prst="rect">
            <a:avLst/>
          </a:prstGeom>
          <a:noFill/>
          <a:ln/>
        </p:spPr>
        <p:txBody>
          <a:bodyPr wrap="square" lIns="0" tIns="0" rIns="0" bIns="0" rtlCol="0" anchor="ctr"/>
          <a:lstStyle/>
          <a:p>
            <a:pPr marL="0" indent="0">
              <a:buNone/>
            </a:pPr>
            <a:r>
              <a:rPr lang="en-US" sz="1200" b="1" i="1" dirty="0">
                <a:solidFill>
                  <a:srgbClr val="E85D3C"/>
                </a:solidFill>
                <a:latin typeface="Calibri" pitchFamily="34" charset="0"/>
                <a:ea typeface="Calibri" pitchFamily="34" charset="-122"/>
                <a:cs typeface="Calibri" pitchFamily="34" charset="-120"/>
              </a:rPr>
              <a:t>Speed signal: </a:t>
            </a:r>
            <a:r>
              <a:rPr lang="en-US" sz="1200" i="1" dirty="0">
                <a:solidFill>
                  <a:srgbClr val="64748B"/>
                </a:solidFill>
                <a:latin typeface="Calibri" pitchFamily="34" charset="0"/>
                <a:ea typeface="Calibri" pitchFamily="34" charset="-122"/>
                <a:cs typeface="Calibri" pitchFamily="34" charset="-120"/>
              </a:rPr>
              <a:t>organic LLM citation typically takes 1–3 days post manual indexing — we're already inside that window.</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859536"/>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TEST 01  /  DIRECT CALCULATION QUERY</a:t>
            </a:r>
          </a:p>
          <a:p>
            <a:br>
              <a:rPr lang="en-IN" sz="1100" dirty="0"/>
            </a:br>
            <a:endParaRPr lang="en-US" sz="1100" dirty="0"/>
          </a:p>
        </p:txBody>
      </p:sp>
      <p:sp>
        <p:nvSpPr>
          <p:cNvPr id="5" name="Text 3"/>
          <p:cNvSpPr/>
          <p:nvPr/>
        </p:nvSpPr>
        <p:spPr>
          <a:xfrm>
            <a:off x="457200" y="960120"/>
            <a:ext cx="1097280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Our official page is the lead citation — beating broker portals</a:t>
            </a:r>
            <a:endParaRPr lang="en-US" sz="2800" dirty="0"/>
          </a:p>
        </p:txBody>
      </p:sp>
      <p:sp>
        <p:nvSpPr>
          <p:cNvPr id="6" name="Shape 4"/>
          <p:cNvSpPr/>
          <p:nvPr/>
        </p:nvSpPr>
        <p:spPr>
          <a:xfrm>
            <a:off x="457200" y="1874520"/>
            <a:ext cx="11247120" cy="502920"/>
          </a:xfrm>
          <a:prstGeom prst="rect">
            <a:avLst/>
          </a:prstGeom>
          <a:solidFill>
            <a:srgbClr val="0F1F3F"/>
          </a:solidFill>
          <a:ln/>
        </p:spPr>
        <p:txBody>
          <a:bodyPr/>
          <a:lstStyle/>
          <a:p>
            <a:endParaRPr lang="en-US"/>
          </a:p>
        </p:txBody>
      </p:sp>
      <p:sp>
        <p:nvSpPr>
          <p:cNvPr id="7" name="Text 5"/>
          <p:cNvSpPr/>
          <p:nvPr/>
        </p:nvSpPr>
        <p:spPr>
          <a:xfrm>
            <a:off x="640080" y="1874520"/>
            <a:ext cx="10972800" cy="502920"/>
          </a:xfrm>
          <a:prstGeom prst="rect">
            <a:avLst/>
          </a:prstGeom>
          <a:noFill/>
          <a:ln/>
        </p:spPr>
        <p:txBody>
          <a:bodyPr wrap="square" lIns="0" tIns="0" rIns="0" bIns="0" rtlCol="0" anchor="ctr"/>
          <a:lstStyle/>
          <a:p>
            <a:pPr marL="0" indent="0">
              <a:buNone/>
            </a:pPr>
            <a:r>
              <a:rPr lang="en-US" sz="1300" b="1" kern="0" spc="400" dirty="0">
                <a:solidFill>
                  <a:srgbClr val="E85D3C"/>
                </a:solidFill>
                <a:latin typeface="Calibri" pitchFamily="34" charset="0"/>
                <a:ea typeface="Calibri" pitchFamily="34" charset="-122"/>
                <a:cs typeface="Calibri" pitchFamily="34" charset="-120"/>
              </a:rPr>
              <a:t>QUERY  </a:t>
            </a:r>
            <a:r>
              <a:rPr lang="en-US" sz="1300" i="1" dirty="0">
                <a:solidFill>
                  <a:srgbClr val="FFFFFF"/>
                </a:solidFill>
                <a:latin typeface="Calibri" pitchFamily="34" charset="0"/>
                <a:ea typeface="Calibri" pitchFamily="34" charset="-122"/>
                <a:cs typeface="Calibri" pitchFamily="34" charset="-120"/>
              </a:rPr>
              <a:t>"godrej azure 1% plan calculation"</a:t>
            </a:r>
            <a:endParaRPr lang="en-US" sz="1300" dirty="0"/>
          </a:p>
        </p:txBody>
      </p:sp>
      <p:pic>
        <p:nvPicPr>
          <p:cNvPr id="8" name="Image 0" descr="/home/claude/godrej_deck/1777470011957_image.png"/>
          <p:cNvPicPr>
            <a:picLocks noChangeAspect="1"/>
          </p:cNvPicPr>
          <p:nvPr/>
        </p:nvPicPr>
        <p:blipFill>
          <a:blip r:embed="rId3"/>
          <a:stretch>
            <a:fillRect/>
          </a:stretch>
        </p:blipFill>
        <p:spPr>
          <a:xfrm>
            <a:off x="457200" y="2606040"/>
            <a:ext cx="7772400" cy="3092611"/>
          </a:xfrm>
          <a:prstGeom prst="rect">
            <a:avLst/>
          </a:prstGeom>
        </p:spPr>
      </p:pic>
      <p:sp>
        <p:nvSpPr>
          <p:cNvPr id="9" name="Shape 6"/>
          <p:cNvSpPr/>
          <p:nvPr/>
        </p:nvSpPr>
        <p:spPr>
          <a:xfrm>
            <a:off x="457200" y="2606040"/>
            <a:ext cx="7772400" cy="3092611"/>
          </a:xfrm>
          <a:prstGeom prst="rect">
            <a:avLst/>
          </a:prstGeom>
          <a:ln w="12700">
            <a:solidFill>
              <a:srgbClr val="E2E8F0"/>
            </a:solidFill>
            <a:prstDash val="solid"/>
          </a:ln>
        </p:spPr>
        <p:txBody>
          <a:bodyPr/>
          <a:lstStyle/>
          <a:p>
            <a:endParaRPr lang="en-US"/>
          </a:p>
        </p:txBody>
      </p:sp>
      <p:sp>
        <p:nvSpPr>
          <p:cNvPr id="10" name="Text 7"/>
          <p:cNvSpPr/>
          <p:nvPr/>
        </p:nvSpPr>
        <p:spPr>
          <a:xfrm>
            <a:off x="8503920" y="2606040"/>
            <a:ext cx="3200400" cy="274320"/>
          </a:xfrm>
          <a:prstGeom prst="rect">
            <a:avLst/>
          </a:prstGeom>
          <a:noFill/>
          <a:ln/>
        </p:spPr>
        <p:txBody>
          <a:bodyPr wrap="square" lIns="0" tIns="0" rIns="0" bIns="0" rtlCol="0" anchor="ctr"/>
          <a:lstStyle/>
          <a:p>
            <a:pPr marL="0" indent="0">
              <a:buNone/>
            </a:pPr>
            <a:r>
              <a:rPr lang="en-US" sz="1000" b="1" kern="0" spc="400" dirty="0">
                <a:solidFill>
                  <a:srgbClr val="E85D3C"/>
                </a:solidFill>
                <a:latin typeface="Calibri" pitchFamily="34" charset="0"/>
                <a:ea typeface="Calibri" pitchFamily="34" charset="-122"/>
                <a:cs typeface="Calibri" pitchFamily="34" charset="-120"/>
              </a:rPr>
              <a:t>THE RESULT</a:t>
            </a:r>
            <a:endParaRPr lang="en-US" sz="1000" dirty="0"/>
          </a:p>
        </p:txBody>
      </p:sp>
      <p:sp>
        <p:nvSpPr>
          <p:cNvPr id="11" name="Text 8"/>
          <p:cNvSpPr/>
          <p:nvPr/>
        </p:nvSpPr>
        <p:spPr>
          <a:xfrm>
            <a:off x="8503920" y="2880360"/>
            <a:ext cx="1371600" cy="914400"/>
          </a:xfrm>
          <a:prstGeom prst="rect">
            <a:avLst/>
          </a:prstGeom>
          <a:noFill/>
          <a:ln/>
        </p:spPr>
        <p:txBody>
          <a:bodyPr wrap="square" lIns="0" tIns="0" rIns="0" bIns="0" rtlCol="0" anchor="ctr"/>
          <a:lstStyle/>
          <a:p>
            <a:pPr marL="0" indent="0">
              <a:buNone/>
            </a:pPr>
            <a:r>
              <a:rPr lang="en-US" sz="6400" b="1" dirty="0">
                <a:solidFill>
                  <a:srgbClr val="0F1F3F"/>
                </a:solidFill>
                <a:latin typeface="Calibri" pitchFamily="34" charset="0"/>
                <a:ea typeface="Calibri" pitchFamily="34" charset="-122"/>
                <a:cs typeface="Calibri" pitchFamily="34" charset="-120"/>
              </a:rPr>
              <a:t>8</a:t>
            </a:r>
            <a:endParaRPr lang="en-US" sz="6400" dirty="0"/>
          </a:p>
        </p:txBody>
      </p:sp>
      <p:sp>
        <p:nvSpPr>
          <p:cNvPr id="12" name="Text 9"/>
          <p:cNvSpPr/>
          <p:nvPr/>
        </p:nvSpPr>
        <p:spPr>
          <a:xfrm>
            <a:off x="9784080" y="3246120"/>
            <a:ext cx="1920240" cy="45720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sites cited</a:t>
            </a:r>
            <a:endParaRPr lang="en-US" sz="1300" dirty="0"/>
          </a:p>
        </p:txBody>
      </p:sp>
      <p:sp>
        <p:nvSpPr>
          <p:cNvPr id="13" name="Text 10"/>
          <p:cNvSpPr/>
          <p:nvPr/>
        </p:nvSpPr>
        <p:spPr>
          <a:xfrm>
            <a:off x="8503920" y="3794760"/>
            <a:ext cx="3200400" cy="8229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Lead citation: official Godrej Properties "Godrej Azure — 1% Payment Plan" page</a:t>
            </a:r>
            <a:endParaRPr lang="en-US" sz="1400" dirty="0"/>
          </a:p>
        </p:txBody>
      </p:sp>
      <p:sp>
        <p:nvSpPr>
          <p:cNvPr id="14" name="Shape 11"/>
          <p:cNvSpPr/>
          <p:nvPr/>
        </p:nvSpPr>
        <p:spPr>
          <a:xfrm>
            <a:off x="8503920" y="4709160"/>
            <a:ext cx="548640" cy="36576"/>
          </a:xfrm>
          <a:prstGeom prst="rect">
            <a:avLst/>
          </a:prstGeom>
          <a:solidFill>
            <a:srgbClr val="E85D3C"/>
          </a:solidFill>
          <a:ln/>
        </p:spPr>
        <p:txBody>
          <a:bodyPr/>
          <a:lstStyle/>
          <a:p>
            <a:endParaRPr lang="en-US"/>
          </a:p>
        </p:txBody>
      </p:sp>
      <p:sp>
        <p:nvSpPr>
          <p:cNvPr id="15" name="Text 12"/>
          <p:cNvSpPr/>
          <p:nvPr/>
        </p:nvSpPr>
        <p:spPr>
          <a:xfrm>
            <a:off x="8503920" y="4846320"/>
            <a:ext cx="3200400" cy="1463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Branded "THE 1% PLAN" visual card appears as a rich snippet alongside the answer — brand visibility inside an AI response.</a:t>
            </a:r>
            <a:endParaRPr lang="en-US" sz="1100" dirty="0"/>
          </a:p>
        </p:txBody>
      </p:sp>
      <p:sp>
        <p:nvSpPr>
          <p:cNvPr id="16" name="Shape 13"/>
          <p:cNvSpPr/>
          <p:nvPr/>
        </p:nvSpPr>
        <p:spPr>
          <a:xfrm>
            <a:off x="457200" y="6080760"/>
            <a:ext cx="11247120" cy="502920"/>
          </a:xfrm>
          <a:prstGeom prst="rect">
            <a:avLst/>
          </a:prstGeom>
          <a:solidFill>
            <a:srgbClr val="FAFAF7"/>
          </a:solidFill>
          <a:ln w="12700">
            <a:solidFill>
              <a:srgbClr val="E2E8F0"/>
            </a:solidFill>
            <a:prstDash val="solid"/>
          </a:ln>
        </p:spPr>
        <p:txBody>
          <a:bodyPr/>
          <a:lstStyle/>
          <a:p>
            <a:endParaRPr lang="en-US"/>
          </a:p>
        </p:txBody>
      </p:sp>
      <p:sp>
        <p:nvSpPr>
          <p:cNvPr id="17" name="Text 14"/>
          <p:cNvSpPr/>
          <p:nvPr/>
        </p:nvSpPr>
        <p:spPr>
          <a:xfrm>
            <a:off x="640080" y="6080760"/>
            <a:ext cx="10972800" cy="502920"/>
          </a:xfrm>
          <a:prstGeom prst="rect">
            <a:avLst/>
          </a:prstGeom>
          <a:noFill/>
          <a:ln/>
        </p:spPr>
        <p:txBody>
          <a:bodyPr wrap="square" lIns="0" tIns="0" rIns="0" bIns="0" rtlCol="0" anchor="ctr"/>
          <a:lstStyle/>
          <a:p>
            <a:pPr marL="0" indent="0">
              <a:buNone/>
            </a:pPr>
            <a:r>
              <a:rPr lang="en-US" sz="1200" b="1" kern="0" spc="400" dirty="0">
                <a:solidFill>
                  <a:srgbClr val="E85D3C"/>
                </a:solidFill>
                <a:latin typeface="Calibri" pitchFamily="34" charset="0"/>
                <a:ea typeface="Calibri" pitchFamily="34" charset="-122"/>
                <a:cs typeface="Calibri" pitchFamily="34" charset="-120"/>
              </a:rPr>
              <a:t>TAKEAWAY  </a:t>
            </a:r>
            <a:r>
              <a:rPr lang="en-US" sz="1200" dirty="0">
                <a:solidFill>
                  <a:srgbClr val="1E293B"/>
                </a:solidFill>
                <a:latin typeface="Calibri" pitchFamily="34" charset="0"/>
                <a:ea typeface="Calibri" pitchFamily="34" charset="-122"/>
                <a:cs typeface="Calibri" pitchFamily="34" charset="-120"/>
              </a:rPr>
              <a:t>The structured payment schedule in the AI answer is pulled directly from our content — not from MagicBricks, not from broker portals.</a:t>
            </a:r>
            <a:endParaRPr lang="en-US" sz="1200" dirty="0"/>
          </a:p>
        </p:txBody>
      </p:sp>
      <p:sp>
        <p:nvSpPr>
          <p:cNvPr id="19" name="TextBox 18">
            <a:extLst>
              <a:ext uri="{FF2B5EF4-FFF2-40B4-BE49-F238E27FC236}">
                <a16:creationId xmlns:a16="http://schemas.microsoft.com/office/drawing/2014/main" id="{FBA8EB9D-AB08-0050-9BB9-749630DEE91C}"/>
              </a:ext>
            </a:extLst>
          </p:cNvPr>
          <p:cNvSpPr txBox="1"/>
          <p:nvPr/>
        </p:nvSpPr>
        <p:spPr>
          <a:xfrm>
            <a:off x="6938682" y="68859"/>
            <a:ext cx="5368066" cy="276999"/>
          </a:xfrm>
          <a:prstGeom prst="rect">
            <a:avLst/>
          </a:prstGeom>
          <a:noFill/>
        </p:spPr>
        <p:txBody>
          <a:bodyPr wrap="square">
            <a:spAutoFit/>
          </a:bodyPr>
          <a:lstStyle/>
          <a:p>
            <a:pPr fontAlgn="base"/>
            <a:r>
              <a:rPr lang="en-IN" sz="1200" dirty="0">
                <a:solidFill>
                  <a:schemeClr val="accent2"/>
                </a:solidFill>
                <a:latin typeface="Calibri" panose="020F0502020204030204" pitchFamily="34" charset="0"/>
                <a:cs typeface="Calibri" panose="020F0502020204030204" pitchFamily="34" charset="0"/>
              </a:rPr>
              <a:t>Full session (publicly viewable): </a:t>
            </a:r>
            <a:r>
              <a:rPr lang="en-IN" sz="1200" dirty="0">
                <a:hlinkClick r:id="rId4" tooltip="https://share.google/aimode/PgbdxsydsfD1rbZtF"/>
              </a:rPr>
              <a:t>https://share.google/aimode/PgbdxsydsfD1rbZtF</a:t>
            </a:r>
            <a:endParaRPr lang="en-IN" sz="1200" dirty="0"/>
          </a:p>
        </p:txBody>
      </p:sp>
      <p:sp>
        <p:nvSpPr>
          <p:cNvPr id="20" name="Rectangle 19">
            <a:extLst>
              <a:ext uri="{FF2B5EF4-FFF2-40B4-BE49-F238E27FC236}">
                <a16:creationId xmlns:a16="http://schemas.microsoft.com/office/drawing/2014/main" id="{EFAD209A-AAC5-9534-9BE5-450C47D38FA7}"/>
              </a:ext>
            </a:extLst>
          </p:cNvPr>
          <p:cNvSpPr/>
          <p:nvPr/>
        </p:nvSpPr>
        <p:spPr>
          <a:xfrm>
            <a:off x="7315200" y="3176734"/>
            <a:ext cx="645459" cy="729368"/>
          </a:xfrm>
          <a:prstGeom prst="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TEST 02  /  NARRATIVE QUERY — THE HEADLINE RESULT</a:t>
            </a:r>
            <a:endParaRPr lang="en-US" sz="1100" dirty="0"/>
          </a:p>
        </p:txBody>
      </p:sp>
      <p:sp>
        <p:nvSpPr>
          <p:cNvPr id="5" name="Text 3"/>
          <p:cNvSpPr/>
          <p:nvPr/>
        </p:nvSpPr>
        <p:spPr>
          <a:xfrm>
            <a:off x="457200" y="960120"/>
            <a:ext cx="1097280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A 2-day-old page is now the #1 citation for brand-narrative queries</a:t>
            </a:r>
            <a:endParaRPr lang="en-US" sz="2800" dirty="0"/>
          </a:p>
        </p:txBody>
      </p:sp>
      <p:sp>
        <p:nvSpPr>
          <p:cNvPr id="6" name="Shape 4"/>
          <p:cNvSpPr/>
          <p:nvPr/>
        </p:nvSpPr>
        <p:spPr>
          <a:xfrm>
            <a:off x="457200" y="1874520"/>
            <a:ext cx="11247120" cy="502920"/>
          </a:xfrm>
          <a:prstGeom prst="rect">
            <a:avLst/>
          </a:prstGeom>
          <a:solidFill>
            <a:srgbClr val="0F1F3F"/>
          </a:solidFill>
          <a:ln/>
        </p:spPr>
        <p:txBody>
          <a:bodyPr/>
          <a:lstStyle/>
          <a:p>
            <a:endParaRPr lang="en-US"/>
          </a:p>
        </p:txBody>
      </p:sp>
      <p:sp>
        <p:nvSpPr>
          <p:cNvPr id="7" name="Text 5"/>
          <p:cNvSpPr/>
          <p:nvPr/>
        </p:nvSpPr>
        <p:spPr>
          <a:xfrm>
            <a:off x="640080" y="1874520"/>
            <a:ext cx="10972800" cy="502920"/>
          </a:xfrm>
          <a:prstGeom prst="rect">
            <a:avLst/>
          </a:prstGeom>
          <a:noFill/>
          <a:ln/>
        </p:spPr>
        <p:txBody>
          <a:bodyPr wrap="square" lIns="0" tIns="0" rIns="0" bIns="0" rtlCol="0" anchor="ctr"/>
          <a:lstStyle/>
          <a:p>
            <a:pPr marL="0" indent="0">
              <a:buNone/>
            </a:pPr>
            <a:r>
              <a:rPr lang="en-US" sz="1300" b="1" kern="0" spc="400" dirty="0">
                <a:solidFill>
                  <a:srgbClr val="E85D3C"/>
                </a:solidFill>
                <a:latin typeface="Calibri" pitchFamily="34" charset="0"/>
                <a:ea typeface="Calibri" pitchFamily="34" charset="-122"/>
                <a:cs typeface="Calibri" pitchFamily="34" charset="-120"/>
              </a:rPr>
              <a:t>QUERY  </a:t>
            </a:r>
            <a:r>
              <a:rPr lang="en-US" sz="1300" i="1" dirty="0">
                <a:solidFill>
                  <a:srgbClr val="FFFFFF"/>
                </a:solidFill>
                <a:latin typeface="Calibri" pitchFamily="34" charset="0"/>
                <a:ea typeface="Calibri" pitchFamily="34" charset="-122"/>
                <a:cs typeface="Calibri" pitchFamily="34" charset="-120"/>
              </a:rPr>
              <a:t>"How has the narrative shifted for Godrej's 1% plan in the last few months?"</a:t>
            </a:r>
            <a:endParaRPr lang="en-US" sz="1300" dirty="0"/>
          </a:p>
        </p:txBody>
      </p:sp>
      <p:pic>
        <p:nvPicPr>
          <p:cNvPr id="8" name="Image 0" descr="/home/claude/godrej_deck/1777470041617_image.png"/>
          <p:cNvPicPr>
            <a:picLocks noChangeAspect="1"/>
          </p:cNvPicPr>
          <p:nvPr/>
        </p:nvPicPr>
        <p:blipFill>
          <a:blip r:embed="rId3"/>
          <a:stretch>
            <a:fillRect/>
          </a:stretch>
        </p:blipFill>
        <p:spPr>
          <a:xfrm>
            <a:off x="457200" y="2606040"/>
            <a:ext cx="7772400" cy="3014339"/>
          </a:xfrm>
          <a:prstGeom prst="rect">
            <a:avLst/>
          </a:prstGeom>
        </p:spPr>
      </p:pic>
      <p:sp>
        <p:nvSpPr>
          <p:cNvPr id="9" name="Shape 6"/>
          <p:cNvSpPr/>
          <p:nvPr/>
        </p:nvSpPr>
        <p:spPr>
          <a:xfrm>
            <a:off x="457200" y="2606040"/>
            <a:ext cx="7772400" cy="3014339"/>
          </a:xfrm>
          <a:prstGeom prst="rect">
            <a:avLst/>
          </a:prstGeom>
          <a:ln w="12700">
            <a:solidFill>
              <a:srgbClr val="E2E8F0"/>
            </a:solidFill>
            <a:prstDash val="solid"/>
          </a:ln>
        </p:spPr>
        <p:txBody>
          <a:bodyPr/>
          <a:lstStyle/>
          <a:p>
            <a:endParaRPr lang="en-US"/>
          </a:p>
        </p:txBody>
      </p:sp>
      <p:sp>
        <p:nvSpPr>
          <p:cNvPr id="10" name="Text 7"/>
          <p:cNvSpPr/>
          <p:nvPr/>
        </p:nvSpPr>
        <p:spPr>
          <a:xfrm>
            <a:off x="8503920" y="2606040"/>
            <a:ext cx="3200400" cy="274320"/>
          </a:xfrm>
          <a:prstGeom prst="rect">
            <a:avLst/>
          </a:prstGeom>
          <a:noFill/>
          <a:ln/>
        </p:spPr>
        <p:txBody>
          <a:bodyPr wrap="square" lIns="0" tIns="0" rIns="0" bIns="0" rtlCol="0" anchor="ctr"/>
          <a:lstStyle/>
          <a:p>
            <a:pPr marL="0" indent="0">
              <a:buNone/>
            </a:pPr>
            <a:r>
              <a:rPr lang="en-US" sz="1000" b="1" kern="0" spc="400" dirty="0">
                <a:solidFill>
                  <a:srgbClr val="E85D3C"/>
                </a:solidFill>
                <a:latin typeface="Calibri" pitchFamily="34" charset="0"/>
                <a:ea typeface="Calibri" pitchFamily="34" charset="-122"/>
                <a:cs typeface="Calibri" pitchFamily="34" charset="-120"/>
              </a:rPr>
              <a:t>THE RESULT</a:t>
            </a:r>
            <a:endParaRPr lang="en-US" sz="1000" dirty="0"/>
          </a:p>
        </p:txBody>
      </p:sp>
      <p:sp>
        <p:nvSpPr>
          <p:cNvPr id="11" name="Text 8"/>
          <p:cNvSpPr/>
          <p:nvPr/>
        </p:nvSpPr>
        <p:spPr>
          <a:xfrm>
            <a:off x="8503920" y="2880360"/>
            <a:ext cx="1828800" cy="914400"/>
          </a:xfrm>
          <a:prstGeom prst="rect">
            <a:avLst/>
          </a:prstGeom>
          <a:noFill/>
          <a:ln/>
        </p:spPr>
        <p:txBody>
          <a:bodyPr wrap="square" lIns="0" tIns="0" rIns="0" bIns="0" rtlCol="0" anchor="ctr"/>
          <a:lstStyle/>
          <a:p>
            <a:pPr marL="0" indent="0">
              <a:buNone/>
            </a:pPr>
            <a:r>
              <a:rPr lang="en-US" sz="6400" b="1" dirty="0">
                <a:solidFill>
                  <a:srgbClr val="0F1F3F"/>
                </a:solidFill>
                <a:latin typeface="Calibri" pitchFamily="34" charset="0"/>
                <a:ea typeface="Calibri" pitchFamily="34" charset="-122"/>
                <a:cs typeface="Calibri" pitchFamily="34" charset="-120"/>
              </a:rPr>
              <a:t>14</a:t>
            </a:r>
            <a:endParaRPr lang="en-US" sz="6400" dirty="0"/>
          </a:p>
        </p:txBody>
      </p:sp>
      <p:sp>
        <p:nvSpPr>
          <p:cNvPr id="12" name="Text 9"/>
          <p:cNvSpPr/>
          <p:nvPr/>
        </p:nvSpPr>
        <p:spPr>
          <a:xfrm>
            <a:off x="9966960" y="3246120"/>
            <a:ext cx="1828800" cy="45720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sites cited</a:t>
            </a:r>
            <a:endParaRPr lang="en-US" sz="1300" dirty="0"/>
          </a:p>
        </p:txBody>
      </p:sp>
      <p:sp>
        <p:nvSpPr>
          <p:cNvPr id="13" name="Text 10"/>
          <p:cNvSpPr/>
          <p:nvPr/>
        </p:nvSpPr>
        <p:spPr>
          <a:xfrm>
            <a:off x="8503920" y="3794760"/>
            <a:ext cx="3200400" cy="8229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Top citation: the newly indexed "Godrej Parkshire — 1% Payment Plan" page</a:t>
            </a:r>
            <a:endParaRPr lang="en-US" sz="1400" dirty="0"/>
          </a:p>
        </p:txBody>
      </p:sp>
      <p:sp>
        <p:nvSpPr>
          <p:cNvPr id="14" name="Shape 11"/>
          <p:cNvSpPr/>
          <p:nvPr/>
        </p:nvSpPr>
        <p:spPr>
          <a:xfrm>
            <a:off x="8503920" y="4709160"/>
            <a:ext cx="548640" cy="36576"/>
          </a:xfrm>
          <a:prstGeom prst="rect">
            <a:avLst/>
          </a:prstGeom>
          <a:solidFill>
            <a:srgbClr val="E85D3C"/>
          </a:solidFill>
          <a:ln/>
        </p:spPr>
        <p:txBody>
          <a:bodyPr/>
          <a:lstStyle/>
          <a:p>
            <a:endParaRPr lang="en-US"/>
          </a:p>
        </p:txBody>
      </p:sp>
      <p:sp>
        <p:nvSpPr>
          <p:cNvPr id="15" name="Text 12"/>
          <p:cNvSpPr/>
          <p:nvPr/>
        </p:nvSpPr>
        <p:spPr>
          <a:xfrm>
            <a:off x="8503920" y="4846320"/>
            <a:ext cx="3200400" cy="1463040"/>
          </a:xfrm>
          <a:prstGeom prst="rect">
            <a:avLst/>
          </a:prstGeom>
          <a:noFill/>
          <a:ln/>
        </p:spPr>
        <p:txBody>
          <a:bodyPr wrap="square" lIns="0" tIns="0" rIns="0" bIns="0" rtlCol="0" anchor="ctr"/>
          <a:lstStyle/>
          <a:p>
            <a:pPr marL="0" indent="0">
              <a:buNone/>
            </a:pPr>
            <a:r>
              <a:rPr lang="en-US" sz="1400" b="1" dirty="0">
                <a:solidFill>
                  <a:srgbClr val="E85D3C"/>
                </a:solidFill>
                <a:latin typeface="Calibri" pitchFamily="34" charset="0"/>
                <a:ea typeface="Calibri" pitchFamily="34" charset="-122"/>
                <a:cs typeface="Calibri" pitchFamily="34" charset="-120"/>
              </a:rPr>
              <a:t>₹6,47,703</a:t>
            </a:r>
            <a:r>
              <a:rPr lang="en-US" sz="1100" dirty="0">
                <a:solidFill>
                  <a:srgbClr val="64748B"/>
                </a:solidFill>
                <a:latin typeface="Calibri" pitchFamily="34" charset="0"/>
                <a:ea typeface="Calibri" pitchFamily="34" charset="-122"/>
                <a:cs typeface="Calibri" pitchFamily="34" charset="-120"/>
              </a:rPr>
              <a:t> (5% of AV) is being quoted verbatim — content that exists </a:t>
            </a:r>
            <a:r>
              <a:rPr lang="en-US" sz="1100" i="1" dirty="0">
                <a:solidFill>
                  <a:srgbClr val="64748B"/>
                </a:solidFill>
                <a:latin typeface="Calibri" pitchFamily="34" charset="0"/>
                <a:ea typeface="Calibri" pitchFamily="34" charset="-122"/>
                <a:cs typeface="Calibri" pitchFamily="34" charset="-120"/>
              </a:rPr>
              <a:t>only</a:t>
            </a:r>
            <a:r>
              <a:rPr lang="en-US" sz="1100" dirty="0">
                <a:solidFill>
                  <a:srgbClr val="64748B"/>
                </a:solidFill>
                <a:latin typeface="Calibri" pitchFamily="34" charset="0"/>
                <a:ea typeface="Calibri" pitchFamily="34" charset="-122"/>
                <a:cs typeface="Calibri" pitchFamily="34" charset="-120"/>
              </a:rPr>
              <a:t> on our page.</a:t>
            </a:r>
            <a:endParaRPr lang="en-US" sz="1100" dirty="0"/>
          </a:p>
        </p:txBody>
      </p:sp>
      <p:sp>
        <p:nvSpPr>
          <p:cNvPr id="16" name="Shape 13"/>
          <p:cNvSpPr/>
          <p:nvPr/>
        </p:nvSpPr>
        <p:spPr>
          <a:xfrm>
            <a:off x="457200" y="6080760"/>
            <a:ext cx="11247120" cy="502920"/>
          </a:xfrm>
          <a:prstGeom prst="rect">
            <a:avLst/>
          </a:prstGeom>
          <a:solidFill>
            <a:srgbClr val="FAFAF7"/>
          </a:solidFill>
          <a:ln w="12700">
            <a:solidFill>
              <a:srgbClr val="E2E8F0"/>
            </a:solidFill>
            <a:prstDash val="solid"/>
          </a:ln>
        </p:spPr>
        <p:txBody>
          <a:bodyPr/>
          <a:lstStyle/>
          <a:p>
            <a:endParaRPr lang="en-US"/>
          </a:p>
        </p:txBody>
      </p:sp>
      <p:sp>
        <p:nvSpPr>
          <p:cNvPr id="17" name="Text 14"/>
          <p:cNvSpPr/>
          <p:nvPr/>
        </p:nvSpPr>
        <p:spPr>
          <a:xfrm>
            <a:off x="640080" y="6080760"/>
            <a:ext cx="10972800" cy="502920"/>
          </a:xfrm>
          <a:prstGeom prst="rect">
            <a:avLst/>
          </a:prstGeom>
          <a:noFill/>
          <a:ln/>
        </p:spPr>
        <p:txBody>
          <a:bodyPr wrap="square" lIns="0" tIns="0" rIns="0" bIns="0" rtlCol="0" anchor="ctr"/>
          <a:lstStyle/>
          <a:p>
            <a:pPr marL="0" indent="0">
              <a:buNone/>
            </a:pPr>
            <a:r>
              <a:rPr lang="en-US" sz="1200" b="1" kern="0" spc="400" dirty="0">
                <a:solidFill>
                  <a:srgbClr val="E85D3C"/>
                </a:solidFill>
                <a:latin typeface="Calibri" pitchFamily="34" charset="0"/>
                <a:ea typeface="Calibri" pitchFamily="34" charset="-122"/>
                <a:cs typeface="Calibri" pitchFamily="34" charset="-120"/>
              </a:rPr>
              <a:t>NARRATIVE WIN  </a:t>
            </a:r>
            <a:r>
              <a:rPr lang="en-US" sz="1200" dirty="0">
                <a:solidFill>
                  <a:srgbClr val="1E293B"/>
                </a:solidFill>
                <a:latin typeface="Calibri" pitchFamily="34" charset="0"/>
                <a:ea typeface="Calibri" pitchFamily="34" charset="-122"/>
                <a:cs typeface="Calibri" pitchFamily="34" charset="-120"/>
              </a:rPr>
              <a:t>AI now describes the 1% plan as a "validated industry standard" exactly the framing we engineered.</a:t>
            </a:r>
            <a:endParaRPr lang="en-US" sz="1200" dirty="0"/>
          </a:p>
        </p:txBody>
      </p:sp>
      <p:sp>
        <p:nvSpPr>
          <p:cNvPr id="18" name="Rectangle 17">
            <a:extLst>
              <a:ext uri="{FF2B5EF4-FFF2-40B4-BE49-F238E27FC236}">
                <a16:creationId xmlns:a16="http://schemas.microsoft.com/office/drawing/2014/main" id="{B93429B4-D371-159A-1C74-07EA0CE6538F}"/>
              </a:ext>
            </a:extLst>
          </p:cNvPr>
          <p:cNvSpPr/>
          <p:nvPr/>
        </p:nvSpPr>
        <p:spPr>
          <a:xfrm>
            <a:off x="7476565" y="3218688"/>
            <a:ext cx="645459" cy="729368"/>
          </a:xfrm>
          <a:prstGeom prst="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0BA110F-74DB-9718-85EE-44A98B04A5E5}"/>
              </a:ext>
            </a:extLst>
          </p:cNvPr>
          <p:cNvSpPr txBox="1"/>
          <p:nvPr/>
        </p:nvSpPr>
        <p:spPr>
          <a:xfrm>
            <a:off x="6938682" y="68859"/>
            <a:ext cx="5368066" cy="276999"/>
          </a:xfrm>
          <a:prstGeom prst="rect">
            <a:avLst/>
          </a:prstGeom>
          <a:noFill/>
        </p:spPr>
        <p:txBody>
          <a:bodyPr wrap="square">
            <a:spAutoFit/>
          </a:bodyPr>
          <a:lstStyle/>
          <a:p>
            <a:pPr fontAlgn="base"/>
            <a:r>
              <a:rPr lang="en-IN" sz="1200" dirty="0">
                <a:solidFill>
                  <a:schemeClr val="accent2"/>
                </a:solidFill>
                <a:latin typeface="Calibri" panose="020F0502020204030204" pitchFamily="34" charset="0"/>
                <a:cs typeface="Calibri" panose="020F0502020204030204" pitchFamily="34" charset="0"/>
              </a:rPr>
              <a:t>Full session (publicly viewable): </a:t>
            </a:r>
            <a:r>
              <a:rPr lang="en-IN" sz="1200" dirty="0">
                <a:hlinkClick r:id="rId4" tooltip="https://share.google/aimode/PgbdxsydsfD1rbZtF"/>
              </a:rPr>
              <a:t>https://share.google/aimode/PgbdxsydsfD1rbZtF</a:t>
            </a:r>
            <a:endParaRPr lang="en-IN"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TEST 03  /  ADVERSARIAL COMPARISON</a:t>
            </a:r>
            <a:endParaRPr lang="en-US" sz="1100" dirty="0"/>
          </a:p>
        </p:txBody>
      </p:sp>
      <p:sp>
        <p:nvSpPr>
          <p:cNvPr id="5" name="Text 3"/>
          <p:cNvSpPr/>
          <p:nvPr/>
        </p:nvSpPr>
        <p:spPr>
          <a:xfrm>
            <a:off x="457200" y="960120"/>
            <a:ext cx="1097280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Even in an "unbiased" framing, the 1% plan is positioned positively</a:t>
            </a:r>
            <a:endParaRPr lang="en-US" sz="2800" dirty="0"/>
          </a:p>
        </p:txBody>
      </p:sp>
      <p:sp>
        <p:nvSpPr>
          <p:cNvPr id="6" name="Shape 4"/>
          <p:cNvSpPr/>
          <p:nvPr/>
        </p:nvSpPr>
        <p:spPr>
          <a:xfrm>
            <a:off x="457200" y="1874520"/>
            <a:ext cx="11247120" cy="502920"/>
          </a:xfrm>
          <a:prstGeom prst="rect">
            <a:avLst/>
          </a:prstGeom>
          <a:solidFill>
            <a:srgbClr val="0F1F3F"/>
          </a:solidFill>
          <a:ln/>
        </p:spPr>
        <p:txBody>
          <a:bodyPr/>
          <a:lstStyle/>
          <a:p>
            <a:endParaRPr lang="en-US"/>
          </a:p>
        </p:txBody>
      </p:sp>
      <p:sp>
        <p:nvSpPr>
          <p:cNvPr id="7" name="Text 5"/>
          <p:cNvSpPr/>
          <p:nvPr/>
        </p:nvSpPr>
        <p:spPr>
          <a:xfrm>
            <a:off x="640080" y="1874520"/>
            <a:ext cx="10972800" cy="502920"/>
          </a:xfrm>
          <a:prstGeom prst="rect">
            <a:avLst/>
          </a:prstGeom>
          <a:noFill/>
          <a:ln/>
        </p:spPr>
        <p:txBody>
          <a:bodyPr wrap="square" lIns="0" tIns="0" rIns="0" bIns="0" rtlCol="0" anchor="ctr"/>
          <a:lstStyle/>
          <a:p>
            <a:pPr marL="0" indent="0">
              <a:buNone/>
            </a:pPr>
            <a:r>
              <a:rPr lang="en-US" sz="1300" b="1" kern="0" spc="400" dirty="0">
                <a:solidFill>
                  <a:srgbClr val="E85D3C"/>
                </a:solidFill>
                <a:latin typeface="Calibri" pitchFamily="34" charset="0"/>
                <a:ea typeface="Calibri" pitchFamily="34" charset="-122"/>
                <a:cs typeface="Calibri" pitchFamily="34" charset="-120"/>
              </a:rPr>
              <a:t>QUERY  </a:t>
            </a:r>
            <a:r>
              <a:rPr lang="en-US" sz="1300" i="1" dirty="0">
                <a:solidFill>
                  <a:srgbClr val="FFFFFF"/>
                </a:solidFill>
                <a:latin typeface="Calibri" pitchFamily="34" charset="0"/>
                <a:ea typeface="Calibri" pitchFamily="34" charset="-122"/>
                <a:cs typeface="Calibri" pitchFamily="34" charset="-120"/>
              </a:rPr>
              <a:t>"Tell me which plan is better in an unbiased way for Godrej Azure?"</a:t>
            </a:r>
            <a:endParaRPr lang="en-US" sz="1300" dirty="0"/>
          </a:p>
        </p:txBody>
      </p:sp>
      <p:pic>
        <p:nvPicPr>
          <p:cNvPr id="8" name="Image 0" descr="/home/claude/godrej_deck/1777470082102_image.png"/>
          <p:cNvPicPr>
            <a:picLocks noChangeAspect="1"/>
          </p:cNvPicPr>
          <p:nvPr/>
        </p:nvPicPr>
        <p:blipFill>
          <a:blip r:embed="rId3"/>
          <a:stretch>
            <a:fillRect/>
          </a:stretch>
        </p:blipFill>
        <p:spPr>
          <a:xfrm>
            <a:off x="457200" y="2606040"/>
            <a:ext cx="5852160" cy="3406257"/>
          </a:xfrm>
          <a:prstGeom prst="rect">
            <a:avLst/>
          </a:prstGeom>
        </p:spPr>
      </p:pic>
      <p:sp>
        <p:nvSpPr>
          <p:cNvPr id="9" name="Shape 6"/>
          <p:cNvSpPr/>
          <p:nvPr/>
        </p:nvSpPr>
        <p:spPr>
          <a:xfrm>
            <a:off x="457200" y="2606040"/>
            <a:ext cx="5852160" cy="3406257"/>
          </a:xfrm>
          <a:prstGeom prst="rect">
            <a:avLst/>
          </a:prstGeom>
          <a:ln w="12700">
            <a:solidFill>
              <a:srgbClr val="E2E8F0"/>
            </a:solidFill>
            <a:prstDash val="solid"/>
          </a:ln>
        </p:spPr>
        <p:txBody>
          <a:bodyPr/>
          <a:lstStyle/>
          <a:p>
            <a:endParaRPr lang="en-US"/>
          </a:p>
        </p:txBody>
      </p:sp>
      <p:sp>
        <p:nvSpPr>
          <p:cNvPr id="10" name="Text 7"/>
          <p:cNvSpPr/>
          <p:nvPr/>
        </p:nvSpPr>
        <p:spPr>
          <a:xfrm>
            <a:off x="6629400" y="2606040"/>
            <a:ext cx="5120640" cy="274320"/>
          </a:xfrm>
          <a:prstGeom prst="rect">
            <a:avLst/>
          </a:prstGeom>
          <a:noFill/>
          <a:ln/>
        </p:spPr>
        <p:txBody>
          <a:bodyPr wrap="square" lIns="0" tIns="0" rIns="0" bIns="0" rtlCol="0" anchor="ctr"/>
          <a:lstStyle/>
          <a:p>
            <a:pPr marL="0" indent="0">
              <a:buNone/>
            </a:pPr>
            <a:r>
              <a:rPr lang="en-US" sz="1000" b="1" kern="0" spc="400" dirty="0">
                <a:solidFill>
                  <a:srgbClr val="E85D3C"/>
                </a:solidFill>
                <a:latin typeface="Calibri" pitchFamily="34" charset="0"/>
                <a:ea typeface="Calibri" pitchFamily="34" charset="-122"/>
                <a:cs typeface="Calibri" pitchFamily="34" charset="-120"/>
              </a:rPr>
              <a:t>WHAT THIS TESTS</a:t>
            </a:r>
            <a:endParaRPr lang="en-US" sz="1000" dirty="0"/>
          </a:p>
        </p:txBody>
      </p:sp>
      <p:sp>
        <p:nvSpPr>
          <p:cNvPr id="11" name="Text 8"/>
          <p:cNvSpPr/>
          <p:nvPr/>
        </p:nvSpPr>
        <p:spPr>
          <a:xfrm>
            <a:off x="6629400" y="2880360"/>
            <a:ext cx="5120640" cy="9144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AI models historically default to scepticism on "unbiased" framings, pulling negative sentiment sources. The risk: the 1% plan being framed as a gimmick.</a:t>
            </a:r>
            <a:endParaRPr lang="en-US" sz="1200" dirty="0"/>
          </a:p>
        </p:txBody>
      </p:sp>
      <p:sp>
        <p:nvSpPr>
          <p:cNvPr id="12" name="Text 9"/>
          <p:cNvSpPr/>
          <p:nvPr/>
        </p:nvSpPr>
        <p:spPr>
          <a:xfrm>
            <a:off x="6629400" y="3886200"/>
            <a:ext cx="5120640" cy="274320"/>
          </a:xfrm>
          <a:prstGeom prst="rect">
            <a:avLst/>
          </a:prstGeom>
          <a:noFill/>
          <a:ln/>
        </p:spPr>
        <p:txBody>
          <a:bodyPr wrap="square" lIns="0" tIns="0" rIns="0" bIns="0" rtlCol="0" anchor="ctr"/>
          <a:lstStyle/>
          <a:p>
            <a:pPr marL="0" indent="0">
              <a:buNone/>
            </a:pPr>
            <a:r>
              <a:rPr lang="en-US" sz="1000" b="1" kern="0" spc="400" dirty="0">
                <a:solidFill>
                  <a:srgbClr val="E85D3C"/>
                </a:solidFill>
                <a:latin typeface="Calibri" pitchFamily="34" charset="0"/>
                <a:ea typeface="Calibri" pitchFamily="34" charset="-122"/>
                <a:cs typeface="Calibri" pitchFamily="34" charset="-120"/>
              </a:rPr>
              <a:t>WHAT AI ACTUALLY SAID</a:t>
            </a:r>
            <a:endParaRPr lang="en-US" sz="1000" dirty="0"/>
          </a:p>
        </p:txBody>
      </p:sp>
      <p:sp>
        <p:nvSpPr>
          <p:cNvPr id="13" name="Text 10"/>
          <p:cNvSpPr/>
          <p:nvPr/>
        </p:nvSpPr>
        <p:spPr>
          <a:xfrm>
            <a:off x="6629400" y="4160520"/>
            <a:ext cx="5120640" cy="1874520"/>
          </a:xfrm>
          <a:prstGeom prst="rect">
            <a:avLst/>
          </a:prstGeom>
          <a:noFill/>
          <a:ln/>
        </p:spPr>
        <p:txBody>
          <a:bodyPr wrap="square" lIns="0" tIns="0" rIns="0" bIns="0" rtlCol="0" anchor="ctr"/>
          <a:lstStyle/>
          <a:p>
            <a:pPr marL="0" indent="0">
              <a:spcAft>
                <a:spcPts val="600"/>
              </a:spcAft>
              <a:buNone/>
            </a:pPr>
            <a:r>
              <a:rPr lang="en-US" sz="1150" b="1" dirty="0">
                <a:solidFill>
                  <a:srgbClr val="1E293B"/>
                </a:solidFill>
                <a:latin typeface="Calibri" pitchFamily="34" charset="0"/>
                <a:ea typeface="Calibri" pitchFamily="34" charset="-122"/>
                <a:cs typeface="Calibri" pitchFamily="34" charset="-120"/>
              </a:rPr>
              <a:t>•  Best for </a:t>
            </a:r>
            <a:r>
              <a:rPr lang="en-US" sz="1150" i="1" dirty="0">
                <a:solidFill>
                  <a:srgbClr val="1E293B"/>
                </a:solidFill>
                <a:latin typeface="Calibri" pitchFamily="34" charset="0"/>
                <a:ea typeface="Calibri" pitchFamily="34" charset="-122"/>
                <a:cs typeface="Calibri" pitchFamily="34" charset="-120"/>
              </a:rPr>
              <a:t>"salaried professionals managing monthly cash flow."</a:t>
            </a:r>
            <a:endParaRPr lang="en-US" sz="1150" dirty="0"/>
          </a:p>
          <a:p>
            <a:pPr marL="0" indent="0">
              <a:spcAft>
                <a:spcPts val="600"/>
              </a:spcAft>
              <a:buNone/>
            </a:pPr>
            <a:r>
              <a:rPr lang="en-US" sz="1150" b="1" dirty="0">
                <a:solidFill>
                  <a:srgbClr val="1E293B"/>
                </a:solidFill>
                <a:latin typeface="Calibri" pitchFamily="34" charset="0"/>
                <a:ea typeface="Calibri" pitchFamily="34" charset="-122"/>
                <a:cs typeface="Calibri" pitchFamily="34" charset="-120"/>
              </a:rPr>
              <a:t>•  Pros </a:t>
            </a:r>
            <a:r>
              <a:rPr lang="en-US" sz="1150" i="1" dirty="0">
                <a:solidFill>
                  <a:srgbClr val="1E293B"/>
                </a:solidFill>
                <a:latin typeface="Calibri" pitchFamily="34" charset="0"/>
                <a:ea typeface="Calibri" pitchFamily="34" charset="-122"/>
                <a:cs typeface="Calibri" pitchFamily="34" charset="-120"/>
              </a:rPr>
              <a:t>"Low entry barrier… savings continue growing in other investments for longer."</a:t>
            </a:r>
            <a:endParaRPr lang="en-US" sz="1150" dirty="0"/>
          </a:p>
          <a:p>
            <a:pPr marL="0" indent="0">
              <a:spcAft>
                <a:spcPts val="600"/>
              </a:spcAft>
              <a:buNone/>
            </a:pPr>
            <a:r>
              <a:rPr lang="en-US" sz="1150" dirty="0">
                <a:solidFill>
                  <a:srgbClr val="1E293B"/>
                </a:solidFill>
                <a:latin typeface="Calibri" pitchFamily="34" charset="0"/>
                <a:ea typeface="Calibri" pitchFamily="34" charset="-122"/>
                <a:cs typeface="Calibri" pitchFamily="34" charset="-120"/>
              </a:rPr>
              <a:t>•  </a:t>
            </a:r>
            <a:r>
              <a:rPr lang="en-US" sz="1150" b="1" dirty="0">
                <a:solidFill>
                  <a:srgbClr val="E85D3C"/>
                </a:solidFill>
                <a:latin typeface="Calibri" pitchFamily="34" charset="0"/>
                <a:ea typeface="Calibri" pitchFamily="34" charset="-122"/>
                <a:cs typeface="Calibri" pitchFamily="34" charset="-120"/>
              </a:rPr>
              <a:t>1% plan is presented FIRST</a:t>
            </a:r>
            <a:r>
              <a:rPr lang="en-US" sz="1150" dirty="0">
                <a:solidFill>
                  <a:srgbClr val="1E293B"/>
                </a:solidFill>
                <a:latin typeface="Calibri" pitchFamily="34" charset="0"/>
                <a:ea typeface="Calibri" pitchFamily="34" charset="-122"/>
                <a:cs typeface="Calibri" pitchFamily="34" charset="-120"/>
              </a:rPr>
              <a:t> in the comparison.</a:t>
            </a:r>
            <a:endParaRPr lang="en-US" sz="1150" dirty="0"/>
          </a:p>
        </p:txBody>
      </p:sp>
      <p:sp>
        <p:nvSpPr>
          <p:cNvPr id="14" name="Shape 11"/>
          <p:cNvSpPr/>
          <p:nvPr/>
        </p:nvSpPr>
        <p:spPr>
          <a:xfrm>
            <a:off x="457200" y="6080760"/>
            <a:ext cx="11247120" cy="502920"/>
          </a:xfrm>
          <a:prstGeom prst="rect">
            <a:avLst/>
          </a:prstGeom>
          <a:solidFill>
            <a:srgbClr val="FAFAF7"/>
          </a:solidFill>
          <a:ln w="12700">
            <a:solidFill>
              <a:srgbClr val="E2E8F0"/>
            </a:solidFill>
            <a:prstDash val="solid"/>
          </a:ln>
        </p:spPr>
        <p:txBody>
          <a:bodyPr/>
          <a:lstStyle/>
          <a:p>
            <a:endParaRPr lang="en-US"/>
          </a:p>
        </p:txBody>
      </p:sp>
      <p:sp>
        <p:nvSpPr>
          <p:cNvPr id="15" name="Text 12"/>
          <p:cNvSpPr/>
          <p:nvPr/>
        </p:nvSpPr>
        <p:spPr>
          <a:xfrm>
            <a:off x="640080" y="6080760"/>
            <a:ext cx="10972800" cy="502920"/>
          </a:xfrm>
          <a:prstGeom prst="rect">
            <a:avLst/>
          </a:prstGeom>
          <a:noFill/>
          <a:ln/>
        </p:spPr>
        <p:txBody>
          <a:bodyPr wrap="square" lIns="0" tIns="0" rIns="0" bIns="0" rtlCol="0" anchor="ctr"/>
          <a:lstStyle/>
          <a:p>
            <a:pPr marL="0" indent="0">
              <a:buNone/>
            </a:pPr>
            <a:r>
              <a:rPr lang="en-US" sz="1200" b="1" kern="0" spc="400" dirty="0">
                <a:solidFill>
                  <a:srgbClr val="E85D3C"/>
                </a:solidFill>
                <a:latin typeface="Calibri" pitchFamily="34" charset="0"/>
                <a:ea typeface="Calibri" pitchFamily="34" charset="-122"/>
                <a:cs typeface="Calibri" pitchFamily="34" charset="-120"/>
              </a:rPr>
              <a:t>RESULT  </a:t>
            </a:r>
            <a:r>
              <a:rPr lang="en-US" sz="1200" dirty="0">
                <a:solidFill>
                  <a:srgbClr val="1E293B"/>
                </a:solidFill>
                <a:latin typeface="Calibri" pitchFamily="34" charset="0"/>
                <a:ea typeface="Calibri" pitchFamily="34" charset="-122"/>
                <a:cs typeface="Calibri" pitchFamily="34" charset="-120"/>
              </a:rPr>
              <a:t>No "hidden fee" framing. No "marketing gimmick." Positioned as a legitimate financial structure for a clearly defined buyer.</a:t>
            </a:r>
            <a:endParaRPr lang="en-US" sz="1200" dirty="0"/>
          </a:p>
        </p:txBody>
      </p:sp>
      <p:sp>
        <p:nvSpPr>
          <p:cNvPr id="16" name="TextBox 15">
            <a:extLst>
              <a:ext uri="{FF2B5EF4-FFF2-40B4-BE49-F238E27FC236}">
                <a16:creationId xmlns:a16="http://schemas.microsoft.com/office/drawing/2014/main" id="{36DB009C-063B-8D40-4226-EC81E1EEBB69}"/>
              </a:ext>
            </a:extLst>
          </p:cNvPr>
          <p:cNvSpPr txBox="1"/>
          <p:nvPr/>
        </p:nvSpPr>
        <p:spPr>
          <a:xfrm>
            <a:off x="6938682" y="68859"/>
            <a:ext cx="5368066" cy="276999"/>
          </a:xfrm>
          <a:prstGeom prst="rect">
            <a:avLst/>
          </a:prstGeom>
          <a:noFill/>
        </p:spPr>
        <p:txBody>
          <a:bodyPr wrap="square">
            <a:spAutoFit/>
          </a:bodyPr>
          <a:lstStyle/>
          <a:p>
            <a:pPr fontAlgn="base"/>
            <a:r>
              <a:rPr lang="en-IN" sz="1200" dirty="0">
                <a:solidFill>
                  <a:schemeClr val="accent2"/>
                </a:solidFill>
                <a:latin typeface="Calibri" panose="020F0502020204030204" pitchFamily="34" charset="0"/>
                <a:cs typeface="Calibri" panose="020F0502020204030204" pitchFamily="34" charset="0"/>
              </a:rPr>
              <a:t>Full session (publicly viewable): </a:t>
            </a:r>
            <a:r>
              <a:rPr lang="en-IN" sz="1200" dirty="0">
                <a:hlinkClick r:id="rId4" tooltip="https://share.google/aimode/PgbdxsydsfD1rbZtF"/>
              </a:rPr>
              <a:t>https://share.google/aimode/PgbdxsydsfD1rbZtF</a:t>
            </a:r>
            <a:endParaRPr lang="en-IN"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TEST 04 / THE CLEANEST PROOF POINT</a:t>
            </a:r>
            <a:endParaRPr lang="en-US" sz="1100" dirty="0"/>
          </a:p>
        </p:txBody>
      </p:sp>
      <p:sp>
        <p:nvSpPr>
          <p:cNvPr id="5" name="Text 3"/>
          <p:cNvSpPr/>
          <p:nvPr/>
        </p:nvSpPr>
        <p:spPr>
          <a:xfrm>
            <a:off x="457200" y="960120"/>
            <a:ext cx="1124712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Same query, different answer — indexing is the variable</a:t>
            </a:r>
            <a:endParaRPr lang="en-US" sz="2800" dirty="0"/>
          </a:p>
        </p:txBody>
      </p:sp>
      <p:sp>
        <p:nvSpPr>
          <p:cNvPr id="6" name="Text 4"/>
          <p:cNvSpPr/>
          <p:nvPr/>
        </p:nvSpPr>
        <p:spPr>
          <a:xfrm>
            <a:off x="457200" y="1828800"/>
            <a:ext cx="1124712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Asked "Is the 1% plan a scam?" — Azure (when it was un-indexed) returned the old sceptical narrative. </a:t>
            </a:r>
            <a:r>
              <a:rPr lang="en-US" sz="1400" dirty="0" err="1">
                <a:solidFill>
                  <a:srgbClr val="64748B"/>
                </a:solidFill>
                <a:latin typeface="Calibri" pitchFamily="34" charset="0"/>
                <a:ea typeface="Calibri" pitchFamily="34" charset="-122"/>
                <a:cs typeface="Calibri" pitchFamily="34" charset="-120"/>
              </a:rPr>
              <a:t>Parkshire</a:t>
            </a:r>
            <a:r>
              <a:rPr lang="en-US" sz="1400" dirty="0">
                <a:solidFill>
                  <a:srgbClr val="64748B"/>
                </a:solidFill>
                <a:latin typeface="Calibri" pitchFamily="34" charset="0"/>
                <a:ea typeface="Calibri" pitchFamily="34" charset="-122"/>
                <a:cs typeface="Calibri" pitchFamily="34" charset="-120"/>
              </a:rPr>
              <a:t> (indexed) returns the shifted, positive framing.</a:t>
            </a:r>
            <a:endParaRPr lang="en-US" sz="1400" dirty="0"/>
          </a:p>
        </p:txBody>
      </p:sp>
      <p:sp>
        <p:nvSpPr>
          <p:cNvPr id="7" name="Shape 5"/>
          <p:cNvSpPr/>
          <p:nvPr/>
        </p:nvSpPr>
        <p:spPr>
          <a:xfrm>
            <a:off x="457200" y="2377440"/>
            <a:ext cx="11247120" cy="457200"/>
          </a:xfrm>
          <a:prstGeom prst="rect">
            <a:avLst/>
          </a:prstGeom>
          <a:solidFill>
            <a:srgbClr val="0F1F3F"/>
          </a:solidFill>
          <a:ln/>
        </p:spPr>
        <p:txBody>
          <a:bodyPr/>
          <a:lstStyle/>
          <a:p>
            <a:endParaRPr lang="en-US"/>
          </a:p>
        </p:txBody>
      </p:sp>
      <p:sp>
        <p:nvSpPr>
          <p:cNvPr id="8" name="Text 6"/>
          <p:cNvSpPr/>
          <p:nvPr/>
        </p:nvSpPr>
        <p:spPr>
          <a:xfrm>
            <a:off x="640080" y="2377440"/>
            <a:ext cx="10972800" cy="457200"/>
          </a:xfrm>
          <a:prstGeom prst="rect">
            <a:avLst/>
          </a:prstGeom>
          <a:noFill/>
          <a:ln/>
        </p:spPr>
        <p:txBody>
          <a:bodyPr wrap="square" lIns="0" tIns="0" rIns="0" bIns="0" rtlCol="0" anchor="ctr"/>
          <a:lstStyle/>
          <a:p>
            <a:pPr marL="0" indent="0">
              <a:buNone/>
            </a:pPr>
            <a:r>
              <a:rPr lang="en-US" sz="1300" b="1" kern="0" spc="400" dirty="0">
                <a:solidFill>
                  <a:srgbClr val="E85D3C"/>
                </a:solidFill>
                <a:latin typeface="Calibri" pitchFamily="34" charset="0"/>
                <a:ea typeface="Calibri" pitchFamily="34" charset="-122"/>
                <a:cs typeface="Calibri" pitchFamily="34" charset="-120"/>
              </a:rPr>
              <a:t>IDENTICAL QUERY  </a:t>
            </a:r>
            <a:r>
              <a:rPr lang="en-US" sz="1300" i="1" dirty="0">
                <a:solidFill>
                  <a:srgbClr val="FFFFFF"/>
                </a:solidFill>
                <a:latin typeface="Calibri" pitchFamily="34" charset="0"/>
                <a:ea typeface="Calibri" pitchFamily="34" charset="-122"/>
                <a:cs typeface="Calibri" pitchFamily="34" charset="-120"/>
              </a:rPr>
              <a:t>"Is the 1% plan a scam?"</a:t>
            </a:r>
            <a:endParaRPr lang="en-US" sz="1300" dirty="0"/>
          </a:p>
        </p:txBody>
      </p:sp>
      <p:sp>
        <p:nvSpPr>
          <p:cNvPr id="9" name="Shape 7"/>
          <p:cNvSpPr/>
          <p:nvPr/>
        </p:nvSpPr>
        <p:spPr>
          <a:xfrm>
            <a:off x="457200" y="3017520"/>
            <a:ext cx="5532120" cy="594360"/>
          </a:xfrm>
          <a:prstGeom prst="rect">
            <a:avLst/>
          </a:prstGeom>
          <a:solidFill>
            <a:srgbClr val="DC2626"/>
          </a:solidFill>
          <a:ln/>
        </p:spPr>
        <p:txBody>
          <a:bodyPr/>
          <a:lstStyle/>
          <a:p>
            <a:endParaRPr lang="en-US"/>
          </a:p>
        </p:txBody>
      </p:sp>
      <p:sp>
        <p:nvSpPr>
          <p:cNvPr id="10" name="Text 8"/>
          <p:cNvSpPr/>
          <p:nvPr/>
        </p:nvSpPr>
        <p:spPr>
          <a:xfrm>
            <a:off x="640080" y="3017520"/>
            <a:ext cx="2743200" cy="5943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GODREJ AZURE</a:t>
            </a:r>
            <a:endParaRPr lang="en-US" sz="1600" dirty="0"/>
          </a:p>
        </p:txBody>
      </p:sp>
      <p:sp>
        <p:nvSpPr>
          <p:cNvPr id="11" name="Text 9"/>
          <p:cNvSpPr/>
          <p:nvPr/>
        </p:nvSpPr>
        <p:spPr>
          <a:xfrm>
            <a:off x="2840019" y="3182112"/>
            <a:ext cx="2966421" cy="274320"/>
          </a:xfrm>
          <a:prstGeom prst="rect">
            <a:avLst/>
          </a:prstGeom>
          <a:noFill/>
          <a:ln/>
        </p:spPr>
        <p:txBody>
          <a:bodyPr wrap="square" lIns="0" tIns="0" rIns="0" bIns="0" rtlCol="0" anchor="ctr"/>
          <a:lstStyle/>
          <a:p>
            <a:pPr marL="0" indent="0" algn="r">
              <a:buNone/>
            </a:pPr>
            <a:r>
              <a:rPr lang="en-US" sz="1000" b="1" kern="0" spc="400" dirty="0">
                <a:solidFill>
                  <a:srgbClr val="FFFFFF"/>
                </a:solidFill>
                <a:latin typeface="Calibri" pitchFamily="34" charset="0"/>
                <a:ea typeface="Calibri" pitchFamily="34" charset="-122"/>
                <a:cs typeface="Calibri" pitchFamily="34" charset="-120"/>
              </a:rPr>
              <a:t>WHEN IT WAS NOT INDEXED</a:t>
            </a:r>
            <a:endParaRPr lang="en-US" sz="1000" dirty="0"/>
          </a:p>
        </p:txBody>
      </p:sp>
      <p:sp>
        <p:nvSpPr>
          <p:cNvPr id="12" name="Shape 10"/>
          <p:cNvSpPr/>
          <p:nvPr/>
        </p:nvSpPr>
        <p:spPr>
          <a:xfrm>
            <a:off x="457200" y="3611880"/>
            <a:ext cx="5532120" cy="1874520"/>
          </a:xfrm>
          <a:prstGeom prst="rect">
            <a:avLst/>
          </a:prstGeom>
          <a:solidFill>
            <a:srgbClr val="EEF2F7"/>
          </a:solidFill>
          <a:ln w="12700">
            <a:solidFill>
              <a:srgbClr val="CBD5E1"/>
            </a:solidFill>
            <a:prstDash val="dash"/>
          </a:ln>
        </p:spPr>
        <p:txBody>
          <a:bodyPr/>
          <a:lstStyle/>
          <a:p>
            <a:endParaRPr lang="en-US"/>
          </a:p>
        </p:txBody>
      </p:sp>
      <p:sp>
        <p:nvSpPr>
          <p:cNvPr id="13" name="Text 11"/>
          <p:cNvSpPr/>
          <p:nvPr/>
        </p:nvSpPr>
        <p:spPr>
          <a:xfrm>
            <a:off x="457200" y="4080510"/>
            <a:ext cx="5532120" cy="562356"/>
          </a:xfrm>
          <a:prstGeom prst="rect">
            <a:avLst/>
          </a:prstGeom>
          <a:noFill/>
          <a:ln/>
        </p:spPr>
        <p:txBody>
          <a:bodyPr wrap="square" lIns="0" tIns="0" rIns="0" bIns="0" rtlCol="0" anchor="ctr"/>
          <a:lstStyle/>
          <a:p>
            <a:pPr marL="0" indent="0" algn="ctr">
              <a:buNone/>
            </a:pPr>
            <a:r>
              <a:rPr lang="en-US" sz="3600" dirty="0">
                <a:solidFill>
                  <a:srgbClr val="CBD5E1"/>
                </a:solidFill>
                <a:latin typeface="Calibri" pitchFamily="34" charset="0"/>
                <a:ea typeface="Calibri" pitchFamily="34" charset="-122"/>
                <a:cs typeface="Calibri" pitchFamily="34" charset="-120"/>
              </a:rPr>
              <a:t>◳</a:t>
            </a:r>
            <a:endParaRPr lang="en-US" sz="3600" dirty="0"/>
          </a:p>
        </p:txBody>
      </p:sp>
      <p:sp>
        <p:nvSpPr>
          <p:cNvPr id="15" name="Text 13"/>
          <p:cNvSpPr/>
          <p:nvPr/>
        </p:nvSpPr>
        <p:spPr>
          <a:xfrm>
            <a:off x="731520" y="4924044"/>
            <a:ext cx="4983480" cy="54864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AI response for un-indexed Azure</a:t>
            </a:r>
            <a:endParaRPr lang="en-US" sz="1100" dirty="0"/>
          </a:p>
        </p:txBody>
      </p:sp>
      <p:sp>
        <p:nvSpPr>
          <p:cNvPr id="16" name="Shape 14"/>
          <p:cNvSpPr/>
          <p:nvPr/>
        </p:nvSpPr>
        <p:spPr>
          <a:xfrm>
            <a:off x="457200" y="5486400"/>
            <a:ext cx="5532120" cy="640080"/>
          </a:xfrm>
          <a:prstGeom prst="rect">
            <a:avLst/>
          </a:prstGeom>
          <a:solidFill>
            <a:srgbClr val="FEF2F2"/>
          </a:solidFill>
          <a:ln w="12700">
            <a:solidFill>
              <a:srgbClr val="E2E8F0"/>
            </a:solidFill>
            <a:prstDash val="solid"/>
          </a:ln>
        </p:spPr>
        <p:txBody>
          <a:bodyPr/>
          <a:lstStyle/>
          <a:p>
            <a:endParaRPr lang="en-US"/>
          </a:p>
        </p:txBody>
      </p:sp>
      <p:sp>
        <p:nvSpPr>
          <p:cNvPr id="17" name="Text 15"/>
          <p:cNvSpPr/>
          <p:nvPr/>
        </p:nvSpPr>
        <p:spPr>
          <a:xfrm>
            <a:off x="640080" y="5486400"/>
            <a:ext cx="5166360" cy="640080"/>
          </a:xfrm>
          <a:prstGeom prst="rect">
            <a:avLst/>
          </a:prstGeom>
          <a:noFill/>
          <a:ln/>
        </p:spPr>
        <p:txBody>
          <a:bodyPr wrap="square" lIns="0" tIns="0" rIns="0" bIns="0" rtlCol="0" anchor="ctr"/>
          <a:lstStyle/>
          <a:p>
            <a:pPr marL="0" indent="0">
              <a:buNone/>
            </a:pPr>
            <a:r>
              <a:rPr lang="en-US" sz="1150" b="1" kern="0" spc="300" dirty="0">
                <a:solidFill>
                  <a:srgbClr val="DC2626"/>
                </a:solidFill>
                <a:latin typeface="Calibri" pitchFamily="34" charset="0"/>
                <a:ea typeface="Calibri" pitchFamily="34" charset="-122"/>
                <a:cs typeface="Calibri" pitchFamily="34" charset="-120"/>
              </a:rPr>
              <a:t>RESULT  </a:t>
            </a:r>
            <a:r>
              <a:rPr lang="en-US" sz="1150" dirty="0">
                <a:solidFill>
                  <a:srgbClr val="1E293B"/>
                </a:solidFill>
                <a:latin typeface="Calibri" pitchFamily="34" charset="0"/>
                <a:ea typeface="Calibri" pitchFamily="34" charset="-122"/>
                <a:cs typeface="Calibri" pitchFamily="34" charset="-120"/>
              </a:rPr>
              <a:t>Old sceptical narrative — "marketing stunt", scam-tagged framing persists.</a:t>
            </a:r>
            <a:endParaRPr lang="en-US" sz="1150" dirty="0"/>
          </a:p>
        </p:txBody>
      </p:sp>
      <p:sp>
        <p:nvSpPr>
          <p:cNvPr id="18" name="Shape 16"/>
          <p:cNvSpPr/>
          <p:nvPr/>
        </p:nvSpPr>
        <p:spPr>
          <a:xfrm>
            <a:off x="6172200" y="3017520"/>
            <a:ext cx="5532120" cy="594360"/>
          </a:xfrm>
          <a:prstGeom prst="rect">
            <a:avLst/>
          </a:prstGeom>
          <a:solidFill>
            <a:srgbClr val="059669"/>
          </a:solidFill>
          <a:ln/>
        </p:spPr>
        <p:txBody>
          <a:bodyPr/>
          <a:lstStyle/>
          <a:p>
            <a:endParaRPr lang="en-US"/>
          </a:p>
        </p:txBody>
      </p:sp>
      <p:sp>
        <p:nvSpPr>
          <p:cNvPr id="19" name="Text 17"/>
          <p:cNvSpPr/>
          <p:nvPr/>
        </p:nvSpPr>
        <p:spPr>
          <a:xfrm>
            <a:off x="6355080" y="3017520"/>
            <a:ext cx="3657600" cy="5943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GODREJ PARKSHIRE</a:t>
            </a:r>
            <a:endParaRPr lang="en-US" sz="1600" dirty="0"/>
          </a:p>
        </p:txBody>
      </p:sp>
      <p:sp>
        <p:nvSpPr>
          <p:cNvPr id="20" name="Text 18"/>
          <p:cNvSpPr/>
          <p:nvPr/>
        </p:nvSpPr>
        <p:spPr>
          <a:xfrm>
            <a:off x="10149840" y="3182112"/>
            <a:ext cx="1371600" cy="274320"/>
          </a:xfrm>
          <a:prstGeom prst="rect">
            <a:avLst/>
          </a:prstGeom>
          <a:noFill/>
          <a:ln/>
        </p:spPr>
        <p:txBody>
          <a:bodyPr wrap="square" lIns="0" tIns="0" rIns="0" bIns="0" rtlCol="0" anchor="ctr"/>
          <a:lstStyle/>
          <a:p>
            <a:pPr marL="0" indent="0" algn="r">
              <a:buNone/>
            </a:pPr>
            <a:r>
              <a:rPr lang="en-US" sz="1000" b="1" kern="0" spc="400" dirty="0">
                <a:solidFill>
                  <a:srgbClr val="FFFFFF"/>
                </a:solidFill>
                <a:latin typeface="Calibri" pitchFamily="34" charset="0"/>
                <a:ea typeface="Calibri" pitchFamily="34" charset="-122"/>
                <a:cs typeface="Calibri" pitchFamily="34" charset="-120"/>
              </a:rPr>
              <a:t>INDEXED</a:t>
            </a:r>
            <a:endParaRPr lang="en-US" sz="1000" dirty="0"/>
          </a:p>
        </p:txBody>
      </p:sp>
      <p:sp>
        <p:nvSpPr>
          <p:cNvPr id="21" name="Shape 19"/>
          <p:cNvSpPr/>
          <p:nvPr/>
        </p:nvSpPr>
        <p:spPr>
          <a:xfrm>
            <a:off x="6172200" y="3611880"/>
            <a:ext cx="5532120" cy="1874520"/>
          </a:xfrm>
          <a:prstGeom prst="rect">
            <a:avLst/>
          </a:prstGeom>
          <a:solidFill>
            <a:srgbClr val="EEF2F7"/>
          </a:solidFill>
          <a:ln w="12700">
            <a:solidFill>
              <a:srgbClr val="CBD5E1"/>
            </a:solidFill>
            <a:prstDash val="dash"/>
          </a:ln>
        </p:spPr>
        <p:txBody>
          <a:bodyPr/>
          <a:lstStyle/>
          <a:p>
            <a:endParaRPr lang="en-US"/>
          </a:p>
        </p:txBody>
      </p:sp>
      <p:sp>
        <p:nvSpPr>
          <p:cNvPr id="22" name="Text 20"/>
          <p:cNvSpPr/>
          <p:nvPr/>
        </p:nvSpPr>
        <p:spPr>
          <a:xfrm>
            <a:off x="6172200" y="4080510"/>
            <a:ext cx="5532120" cy="562356"/>
          </a:xfrm>
          <a:prstGeom prst="rect">
            <a:avLst/>
          </a:prstGeom>
          <a:noFill/>
          <a:ln/>
        </p:spPr>
        <p:txBody>
          <a:bodyPr wrap="square" lIns="0" tIns="0" rIns="0" bIns="0" rtlCol="0" anchor="ctr"/>
          <a:lstStyle/>
          <a:p>
            <a:pPr marL="0" indent="0" algn="ctr">
              <a:buNone/>
            </a:pPr>
            <a:r>
              <a:rPr lang="en-US" sz="3600" dirty="0">
                <a:solidFill>
                  <a:srgbClr val="CBD5E1"/>
                </a:solidFill>
                <a:latin typeface="Calibri" pitchFamily="34" charset="0"/>
                <a:ea typeface="Calibri" pitchFamily="34" charset="-122"/>
                <a:cs typeface="Calibri" pitchFamily="34" charset="-120"/>
              </a:rPr>
              <a:t>◳</a:t>
            </a:r>
            <a:endParaRPr lang="en-US" sz="3600" dirty="0"/>
          </a:p>
        </p:txBody>
      </p:sp>
      <p:sp>
        <p:nvSpPr>
          <p:cNvPr id="24" name="Text 22"/>
          <p:cNvSpPr/>
          <p:nvPr/>
        </p:nvSpPr>
        <p:spPr>
          <a:xfrm>
            <a:off x="6446520" y="4924044"/>
            <a:ext cx="4983480" cy="54864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AI response for indexed Parkshire</a:t>
            </a:r>
            <a:endParaRPr lang="en-US" sz="1100" dirty="0"/>
          </a:p>
        </p:txBody>
      </p:sp>
      <p:sp>
        <p:nvSpPr>
          <p:cNvPr id="25" name="Shape 23"/>
          <p:cNvSpPr/>
          <p:nvPr/>
        </p:nvSpPr>
        <p:spPr>
          <a:xfrm>
            <a:off x="6172200" y="5486400"/>
            <a:ext cx="5532120" cy="640080"/>
          </a:xfrm>
          <a:prstGeom prst="rect">
            <a:avLst/>
          </a:prstGeom>
          <a:solidFill>
            <a:srgbClr val="F0FDF4"/>
          </a:solidFill>
          <a:ln w="12700">
            <a:solidFill>
              <a:srgbClr val="E2E8F0"/>
            </a:solidFill>
            <a:prstDash val="solid"/>
          </a:ln>
        </p:spPr>
        <p:txBody>
          <a:bodyPr/>
          <a:lstStyle/>
          <a:p>
            <a:endParaRPr lang="en-US"/>
          </a:p>
        </p:txBody>
      </p:sp>
      <p:sp>
        <p:nvSpPr>
          <p:cNvPr id="26" name="Text 24"/>
          <p:cNvSpPr/>
          <p:nvPr/>
        </p:nvSpPr>
        <p:spPr>
          <a:xfrm>
            <a:off x="6355080" y="5486400"/>
            <a:ext cx="5166360" cy="640080"/>
          </a:xfrm>
          <a:prstGeom prst="rect">
            <a:avLst/>
          </a:prstGeom>
          <a:noFill/>
          <a:ln/>
        </p:spPr>
        <p:txBody>
          <a:bodyPr wrap="square" lIns="0" tIns="0" rIns="0" bIns="0" rtlCol="0" anchor="ctr"/>
          <a:lstStyle/>
          <a:p>
            <a:pPr marL="0" indent="0">
              <a:buNone/>
            </a:pPr>
            <a:r>
              <a:rPr lang="en-US" sz="1150" b="1" kern="0" spc="300" dirty="0">
                <a:solidFill>
                  <a:srgbClr val="059669"/>
                </a:solidFill>
                <a:latin typeface="Calibri" pitchFamily="34" charset="0"/>
                <a:ea typeface="Calibri" pitchFamily="34" charset="-122"/>
                <a:cs typeface="Calibri" pitchFamily="34" charset="-120"/>
              </a:rPr>
              <a:t>RESULT  </a:t>
            </a:r>
            <a:r>
              <a:rPr lang="en-US" sz="1150" dirty="0">
                <a:solidFill>
                  <a:srgbClr val="1E293B"/>
                </a:solidFill>
                <a:latin typeface="Calibri" pitchFamily="34" charset="0"/>
                <a:ea typeface="Calibri" pitchFamily="34" charset="-122"/>
                <a:cs typeface="Calibri" pitchFamily="34" charset="-120"/>
              </a:rPr>
              <a:t>Narrative has shifted — balanced, analytical framing with our page cited.</a:t>
            </a:r>
            <a:endParaRPr lang="en-US" sz="1150" dirty="0"/>
          </a:p>
        </p:txBody>
      </p:sp>
      <p:sp>
        <p:nvSpPr>
          <p:cNvPr id="27" name="Shape 25"/>
          <p:cNvSpPr/>
          <p:nvPr/>
        </p:nvSpPr>
        <p:spPr>
          <a:xfrm>
            <a:off x="457200" y="6400800"/>
            <a:ext cx="11247120" cy="411480"/>
          </a:xfrm>
          <a:prstGeom prst="rect">
            <a:avLst/>
          </a:prstGeom>
          <a:solidFill>
            <a:srgbClr val="0F1F3F"/>
          </a:solidFill>
          <a:ln/>
        </p:spPr>
        <p:txBody>
          <a:bodyPr/>
          <a:lstStyle/>
          <a:p>
            <a:endParaRPr lang="en-US"/>
          </a:p>
        </p:txBody>
      </p:sp>
      <p:sp>
        <p:nvSpPr>
          <p:cNvPr id="28" name="Text 26"/>
          <p:cNvSpPr/>
          <p:nvPr/>
        </p:nvSpPr>
        <p:spPr>
          <a:xfrm>
            <a:off x="457200" y="6400800"/>
            <a:ext cx="11247120" cy="411480"/>
          </a:xfrm>
          <a:prstGeom prst="rect">
            <a:avLst/>
          </a:prstGeom>
          <a:noFill/>
          <a:ln/>
        </p:spPr>
        <p:txBody>
          <a:bodyPr wrap="square" lIns="0" tIns="0" rIns="0" bIns="0" rtlCol="0" anchor="ctr"/>
          <a:lstStyle/>
          <a:p>
            <a:pPr marL="0" indent="0" algn="ctr">
              <a:buNone/>
            </a:pPr>
            <a:r>
              <a:rPr lang="en-US" sz="1300" i="1" dirty="0">
                <a:solidFill>
                  <a:srgbClr val="CADCFC"/>
                </a:solidFill>
                <a:latin typeface="Calibri" pitchFamily="34" charset="0"/>
                <a:ea typeface="Calibri" pitchFamily="34" charset="-122"/>
                <a:cs typeface="Calibri" pitchFamily="34" charset="-120"/>
              </a:rPr>
              <a:t>Same buyer. Same question. </a:t>
            </a:r>
            <a:r>
              <a:rPr lang="en-US" sz="1300" b="1" dirty="0">
                <a:solidFill>
                  <a:srgbClr val="E85D3C"/>
                </a:solidFill>
                <a:latin typeface="Calibri" pitchFamily="34" charset="0"/>
                <a:ea typeface="Calibri" pitchFamily="34" charset="-122"/>
                <a:cs typeface="Calibri" pitchFamily="34" charset="-120"/>
              </a:rPr>
              <a:t>Indexing is the lever moving the needle.</a:t>
            </a:r>
            <a:endParaRPr lang="en-US" sz="1300" dirty="0"/>
          </a:p>
        </p:txBody>
      </p:sp>
      <p:sp>
        <p:nvSpPr>
          <p:cNvPr id="30" name="TextBox 29">
            <a:extLst>
              <a:ext uri="{FF2B5EF4-FFF2-40B4-BE49-F238E27FC236}">
                <a16:creationId xmlns:a16="http://schemas.microsoft.com/office/drawing/2014/main" id="{2EBD965A-F713-0402-5956-A5FF44B7E884}"/>
              </a:ext>
            </a:extLst>
          </p:cNvPr>
          <p:cNvSpPr txBox="1"/>
          <p:nvPr/>
        </p:nvSpPr>
        <p:spPr>
          <a:xfrm>
            <a:off x="5715000" y="86082"/>
            <a:ext cx="6640749" cy="553998"/>
          </a:xfrm>
          <a:prstGeom prst="rect">
            <a:avLst/>
          </a:prstGeom>
          <a:noFill/>
        </p:spPr>
        <p:txBody>
          <a:bodyPr wrap="square">
            <a:spAutoFit/>
          </a:bodyPr>
          <a:lstStyle/>
          <a:p>
            <a:r>
              <a:rPr lang="en-IN" sz="1200" dirty="0">
                <a:solidFill>
                  <a:schemeClr val="accent2"/>
                </a:solidFill>
                <a:latin typeface="Calibri" panose="020F0502020204030204" pitchFamily="34" charset="0"/>
                <a:cs typeface="Calibri" panose="020F0502020204030204" pitchFamily="34" charset="0"/>
              </a:rPr>
              <a:t>Full session (publicly viewable): </a:t>
            </a:r>
            <a:r>
              <a:rPr lang="en-US" sz="1200" dirty="0">
                <a:hlinkClick r:id="rId3"/>
              </a:rPr>
              <a:t>https://chatgpt.com/share/69f0f988-9b1c-8320-b9f8-30cbe2667166</a:t>
            </a:r>
            <a:endParaRPr lang="en-US" sz="1200" dirty="0"/>
          </a:p>
          <a:p>
            <a:endParaRPr lang="en-US" dirty="0"/>
          </a:p>
        </p:txBody>
      </p:sp>
      <p:pic>
        <p:nvPicPr>
          <p:cNvPr id="31" name="Picture 30">
            <a:extLst>
              <a:ext uri="{FF2B5EF4-FFF2-40B4-BE49-F238E27FC236}">
                <a16:creationId xmlns:a16="http://schemas.microsoft.com/office/drawing/2014/main" id="{924BEED0-091F-F192-E166-681033995D63}"/>
              </a:ext>
            </a:extLst>
          </p:cNvPr>
          <p:cNvPicPr>
            <a:picLocks noChangeAspect="1"/>
          </p:cNvPicPr>
          <p:nvPr/>
        </p:nvPicPr>
        <p:blipFill>
          <a:blip r:embed="rId4"/>
          <a:stretch>
            <a:fillRect/>
          </a:stretch>
        </p:blipFill>
        <p:spPr>
          <a:xfrm>
            <a:off x="487680" y="3620219"/>
            <a:ext cx="5483718" cy="1852465"/>
          </a:xfrm>
          <a:prstGeom prst="rect">
            <a:avLst/>
          </a:prstGeom>
        </p:spPr>
      </p:pic>
      <p:pic>
        <p:nvPicPr>
          <p:cNvPr id="32" name="Picture 31">
            <a:extLst>
              <a:ext uri="{FF2B5EF4-FFF2-40B4-BE49-F238E27FC236}">
                <a16:creationId xmlns:a16="http://schemas.microsoft.com/office/drawing/2014/main" id="{B12AFF46-A694-3872-44A2-8D6C00CC8046}"/>
              </a:ext>
            </a:extLst>
          </p:cNvPr>
          <p:cNvPicPr>
            <a:picLocks noChangeAspect="1"/>
          </p:cNvPicPr>
          <p:nvPr/>
        </p:nvPicPr>
        <p:blipFill>
          <a:blip r:embed="rId5"/>
          <a:stretch>
            <a:fillRect/>
          </a:stretch>
        </p:blipFill>
        <p:spPr>
          <a:xfrm>
            <a:off x="6172200" y="3620218"/>
            <a:ext cx="5532120" cy="18524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THE SHIFT, SUMMARISED</a:t>
            </a:r>
            <a:endParaRPr lang="en-US" sz="1100" dirty="0"/>
          </a:p>
        </p:txBody>
      </p:sp>
      <p:sp>
        <p:nvSpPr>
          <p:cNvPr id="5" name="Text 3"/>
          <p:cNvSpPr/>
          <p:nvPr/>
        </p:nvSpPr>
        <p:spPr>
          <a:xfrm>
            <a:off x="457200" y="960120"/>
            <a:ext cx="1097280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Pre-work vs post-work — across every dimension that matters</a:t>
            </a:r>
            <a:endParaRPr lang="en-US" sz="2800" dirty="0"/>
          </a:p>
        </p:txBody>
      </p:sp>
      <p:sp>
        <p:nvSpPr>
          <p:cNvPr id="6" name="Shape 4"/>
          <p:cNvSpPr/>
          <p:nvPr/>
        </p:nvSpPr>
        <p:spPr>
          <a:xfrm>
            <a:off x="2286000" y="1828800"/>
            <a:ext cx="4754880" cy="411480"/>
          </a:xfrm>
          <a:prstGeom prst="rect">
            <a:avLst/>
          </a:prstGeom>
          <a:solidFill>
            <a:srgbClr val="DC2626"/>
          </a:solidFill>
          <a:ln/>
        </p:spPr>
        <p:txBody>
          <a:bodyPr/>
          <a:lstStyle/>
          <a:p>
            <a:endParaRPr lang="en-US"/>
          </a:p>
        </p:txBody>
      </p:sp>
      <p:sp>
        <p:nvSpPr>
          <p:cNvPr id="7" name="Text 5"/>
          <p:cNvSpPr/>
          <p:nvPr/>
        </p:nvSpPr>
        <p:spPr>
          <a:xfrm>
            <a:off x="2286000" y="1828800"/>
            <a:ext cx="4754880" cy="411480"/>
          </a:xfrm>
          <a:prstGeom prst="rect">
            <a:avLst/>
          </a:prstGeom>
          <a:noFill/>
          <a:ln/>
        </p:spPr>
        <p:txBody>
          <a:bodyPr wrap="square" lIns="0" tIns="0" rIns="0" bIns="0" rtlCol="0" anchor="ctr"/>
          <a:lstStyle/>
          <a:p>
            <a:pPr marL="0" indent="0" algn="ctr">
              <a:buNone/>
            </a:pPr>
            <a:r>
              <a:rPr lang="en-US" sz="1200" b="1" kern="0" spc="600" dirty="0">
                <a:solidFill>
                  <a:srgbClr val="FFFFFF"/>
                </a:solidFill>
                <a:latin typeface="Calibri" pitchFamily="34" charset="0"/>
                <a:ea typeface="Calibri" pitchFamily="34" charset="-122"/>
                <a:cs typeface="Calibri" pitchFamily="34" charset="-120"/>
              </a:rPr>
              <a:t>BEFORE</a:t>
            </a:r>
            <a:endParaRPr lang="en-US" sz="1200" dirty="0"/>
          </a:p>
        </p:txBody>
      </p:sp>
      <p:sp>
        <p:nvSpPr>
          <p:cNvPr id="8" name="Shape 6"/>
          <p:cNvSpPr/>
          <p:nvPr/>
        </p:nvSpPr>
        <p:spPr>
          <a:xfrm>
            <a:off x="7178040" y="1828800"/>
            <a:ext cx="4572000" cy="411480"/>
          </a:xfrm>
          <a:prstGeom prst="rect">
            <a:avLst/>
          </a:prstGeom>
          <a:solidFill>
            <a:srgbClr val="059669"/>
          </a:solidFill>
          <a:ln/>
        </p:spPr>
        <p:txBody>
          <a:bodyPr/>
          <a:lstStyle/>
          <a:p>
            <a:endParaRPr lang="en-US"/>
          </a:p>
        </p:txBody>
      </p:sp>
      <p:sp>
        <p:nvSpPr>
          <p:cNvPr id="9" name="Text 7"/>
          <p:cNvSpPr/>
          <p:nvPr/>
        </p:nvSpPr>
        <p:spPr>
          <a:xfrm>
            <a:off x="7178040" y="1828800"/>
            <a:ext cx="4572000" cy="41148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AFTER GEO IMPLEMENTATION</a:t>
            </a:r>
            <a:endParaRPr lang="en-US" sz="1200" dirty="0"/>
          </a:p>
        </p:txBody>
      </p:sp>
      <p:sp>
        <p:nvSpPr>
          <p:cNvPr id="10" name="Shape 8"/>
          <p:cNvSpPr/>
          <p:nvPr/>
        </p:nvSpPr>
        <p:spPr>
          <a:xfrm>
            <a:off x="457200" y="2331720"/>
            <a:ext cx="1783080" cy="786384"/>
          </a:xfrm>
          <a:prstGeom prst="rect">
            <a:avLst/>
          </a:prstGeom>
          <a:solidFill>
            <a:srgbClr val="0F1F3F"/>
          </a:solidFill>
          <a:ln/>
        </p:spPr>
        <p:txBody>
          <a:bodyPr/>
          <a:lstStyle/>
          <a:p>
            <a:endParaRPr lang="en-US"/>
          </a:p>
        </p:txBody>
      </p:sp>
      <p:sp>
        <p:nvSpPr>
          <p:cNvPr id="11" name="Text 9"/>
          <p:cNvSpPr/>
          <p:nvPr/>
        </p:nvSpPr>
        <p:spPr>
          <a:xfrm>
            <a:off x="548640" y="2331720"/>
            <a:ext cx="1691640" cy="7863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Lead citations</a:t>
            </a:r>
            <a:endParaRPr lang="en-US" sz="1100" dirty="0"/>
          </a:p>
        </p:txBody>
      </p:sp>
      <p:sp>
        <p:nvSpPr>
          <p:cNvPr id="12" name="Shape 10"/>
          <p:cNvSpPr/>
          <p:nvPr/>
        </p:nvSpPr>
        <p:spPr>
          <a:xfrm>
            <a:off x="2286000" y="2331720"/>
            <a:ext cx="4754880" cy="786384"/>
          </a:xfrm>
          <a:prstGeom prst="rect">
            <a:avLst/>
          </a:prstGeom>
          <a:solidFill>
            <a:srgbClr val="FEF2F2"/>
          </a:solidFill>
          <a:ln w="9525">
            <a:solidFill>
              <a:srgbClr val="E2E8F0"/>
            </a:solidFill>
            <a:prstDash val="solid"/>
          </a:ln>
        </p:spPr>
        <p:txBody>
          <a:bodyPr/>
          <a:lstStyle/>
          <a:p>
            <a:endParaRPr lang="en-US"/>
          </a:p>
        </p:txBody>
      </p:sp>
      <p:sp>
        <p:nvSpPr>
          <p:cNvPr id="13" name="Text 11"/>
          <p:cNvSpPr/>
          <p:nvPr/>
        </p:nvSpPr>
        <p:spPr>
          <a:xfrm>
            <a:off x="2468880" y="2331720"/>
            <a:ext cx="4526280" cy="7863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Broker portals (MagicBricks, NoBroker, 99acres)</a:t>
            </a:r>
            <a:endParaRPr lang="en-US" sz="1200" dirty="0"/>
          </a:p>
        </p:txBody>
      </p:sp>
      <p:sp>
        <p:nvSpPr>
          <p:cNvPr id="14" name="Shape 12"/>
          <p:cNvSpPr/>
          <p:nvPr/>
        </p:nvSpPr>
        <p:spPr>
          <a:xfrm>
            <a:off x="7178040" y="2331720"/>
            <a:ext cx="4572000" cy="786384"/>
          </a:xfrm>
          <a:prstGeom prst="rect">
            <a:avLst/>
          </a:prstGeom>
          <a:solidFill>
            <a:srgbClr val="F0FDF4"/>
          </a:solidFill>
          <a:ln w="9525">
            <a:solidFill>
              <a:srgbClr val="E2E8F0"/>
            </a:solidFill>
            <a:prstDash val="solid"/>
          </a:ln>
        </p:spPr>
        <p:txBody>
          <a:bodyPr/>
          <a:lstStyle/>
          <a:p>
            <a:endParaRPr lang="en-US"/>
          </a:p>
        </p:txBody>
      </p:sp>
      <p:sp>
        <p:nvSpPr>
          <p:cNvPr id="15" name="Text 13"/>
          <p:cNvSpPr/>
          <p:nvPr/>
        </p:nvSpPr>
        <p:spPr>
          <a:xfrm>
            <a:off x="7360920" y="2331720"/>
            <a:ext cx="4343400" cy="786384"/>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Official Godrej Properties pages — top citation</a:t>
            </a:r>
            <a:endParaRPr lang="en-US" sz="1200" dirty="0"/>
          </a:p>
        </p:txBody>
      </p:sp>
      <p:sp>
        <p:nvSpPr>
          <p:cNvPr id="16" name="Shape 14"/>
          <p:cNvSpPr/>
          <p:nvPr/>
        </p:nvSpPr>
        <p:spPr>
          <a:xfrm>
            <a:off x="457200" y="3163824"/>
            <a:ext cx="1783080" cy="786384"/>
          </a:xfrm>
          <a:prstGeom prst="rect">
            <a:avLst/>
          </a:prstGeom>
          <a:solidFill>
            <a:srgbClr val="0F1F3F"/>
          </a:solidFill>
          <a:ln/>
        </p:spPr>
        <p:txBody>
          <a:bodyPr/>
          <a:lstStyle/>
          <a:p>
            <a:endParaRPr lang="en-US"/>
          </a:p>
        </p:txBody>
      </p:sp>
      <p:sp>
        <p:nvSpPr>
          <p:cNvPr id="17" name="Text 15"/>
          <p:cNvSpPr/>
          <p:nvPr/>
        </p:nvSpPr>
        <p:spPr>
          <a:xfrm>
            <a:off x="548640" y="3163824"/>
            <a:ext cx="1691640" cy="7863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Brand framing</a:t>
            </a:r>
            <a:endParaRPr lang="en-US" sz="1100" dirty="0"/>
          </a:p>
        </p:txBody>
      </p:sp>
      <p:sp>
        <p:nvSpPr>
          <p:cNvPr id="18" name="Shape 16"/>
          <p:cNvSpPr/>
          <p:nvPr/>
        </p:nvSpPr>
        <p:spPr>
          <a:xfrm>
            <a:off x="2286000" y="3163824"/>
            <a:ext cx="4754880" cy="786384"/>
          </a:xfrm>
          <a:prstGeom prst="rect">
            <a:avLst/>
          </a:prstGeom>
          <a:solidFill>
            <a:srgbClr val="FEF2F2"/>
          </a:solidFill>
          <a:ln w="9525">
            <a:solidFill>
              <a:srgbClr val="E2E8F0"/>
            </a:solidFill>
            <a:prstDash val="solid"/>
          </a:ln>
        </p:spPr>
        <p:txBody>
          <a:bodyPr/>
          <a:lstStyle/>
          <a:p>
            <a:endParaRPr lang="en-US"/>
          </a:p>
        </p:txBody>
      </p:sp>
      <p:sp>
        <p:nvSpPr>
          <p:cNvPr id="19" name="Text 17"/>
          <p:cNvSpPr/>
          <p:nvPr/>
        </p:nvSpPr>
        <p:spPr>
          <a:xfrm>
            <a:off x="2468880" y="3163824"/>
            <a:ext cx="4526280" cy="7863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"Marketing stunt with hidden financial tricks"</a:t>
            </a:r>
            <a:endParaRPr lang="en-US" sz="1200" dirty="0"/>
          </a:p>
        </p:txBody>
      </p:sp>
      <p:sp>
        <p:nvSpPr>
          <p:cNvPr id="20" name="Shape 18"/>
          <p:cNvSpPr/>
          <p:nvPr/>
        </p:nvSpPr>
        <p:spPr>
          <a:xfrm>
            <a:off x="7178040" y="3163824"/>
            <a:ext cx="4572000" cy="786384"/>
          </a:xfrm>
          <a:prstGeom prst="rect">
            <a:avLst/>
          </a:prstGeom>
          <a:solidFill>
            <a:srgbClr val="F0FDF4"/>
          </a:solidFill>
          <a:ln w="9525">
            <a:solidFill>
              <a:srgbClr val="E2E8F0"/>
            </a:solidFill>
            <a:prstDash val="solid"/>
          </a:ln>
        </p:spPr>
        <p:txBody>
          <a:bodyPr/>
          <a:lstStyle/>
          <a:p>
            <a:endParaRPr lang="en-US"/>
          </a:p>
        </p:txBody>
      </p:sp>
      <p:sp>
        <p:nvSpPr>
          <p:cNvPr id="21" name="Text 19"/>
          <p:cNvSpPr/>
          <p:nvPr/>
        </p:nvSpPr>
        <p:spPr>
          <a:xfrm>
            <a:off x="7360920" y="3163824"/>
            <a:ext cx="4343400" cy="786384"/>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"Validated industry standard" / "financial engineering win"</a:t>
            </a:r>
            <a:endParaRPr lang="en-US" sz="1200" dirty="0"/>
          </a:p>
        </p:txBody>
      </p:sp>
      <p:sp>
        <p:nvSpPr>
          <p:cNvPr id="22" name="Shape 20"/>
          <p:cNvSpPr/>
          <p:nvPr/>
        </p:nvSpPr>
        <p:spPr>
          <a:xfrm>
            <a:off x="457200" y="3995928"/>
            <a:ext cx="1783080" cy="786384"/>
          </a:xfrm>
          <a:prstGeom prst="rect">
            <a:avLst/>
          </a:prstGeom>
          <a:solidFill>
            <a:srgbClr val="0F1F3F"/>
          </a:solidFill>
          <a:ln/>
        </p:spPr>
        <p:txBody>
          <a:bodyPr/>
          <a:lstStyle/>
          <a:p>
            <a:endParaRPr lang="en-US"/>
          </a:p>
        </p:txBody>
      </p:sp>
      <p:sp>
        <p:nvSpPr>
          <p:cNvPr id="23" name="Text 21"/>
          <p:cNvSpPr/>
          <p:nvPr/>
        </p:nvSpPr>
        <p:spPr>
          <a:xfrm>
            <a:off x="548640" y="3995928"/>
            <a:ext cx="1691640" cy="7863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Adversarial queries</a:t>
            </a:r>
            <a:endParaRPr lang="en-US" sz="1100" dirty="0"/>
          </a:p>
        </p:txBody>
      </p:sp>
      <p:sp>
        <p:nvSpPr>
          <p:cNvPr id="24" name="Shape 22"/>
          <p:cNvSpPr/>
          <p:nvPr/>
        </p:nvSpPr>
        <p:spPr>
          <a:xfrm>
            <a:off x="2286000" y="3995928"/>
            <a:ext cx="4754880" cy="786384"/>
          </a:xfrm>
          <a:prstGeom prst="rect">
            <a:avLst/>
          </a:prstGeom>
          <a:solidFill>
            <a:srgbClr val="FEF2F2"/>
          </a:solidFill>
          <a:ln w="9525">
            <a:solidFill>
              <a:srgbClr val="E2E8F0"/>
            </a:solidFill>
            <a:prstDash val="solid"/>
          </a:ln>
        </p:spPr>
        <p:txBody>
          <a:bodyPr/>
          <a:lstStyle/>
          <a:p>
            <a:endParaRPr lang="en-US"/>
          </a:p>
        </p:txBody>
      </p:sp>
      <p:sp>
        <p:nvSpPr>
          <p:cNvPr id="25" name="Text 23"/>
          <p:cNvSpPr/>
          <p:nvPr/>
        </p:nvSpPr>
        <p:spPr>
          <a:xfrm>
            <a:off x="2468880" y="3995928"/>
            <a:ext cx="4526280" cy="7863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Default scepticism, 1% plan dismissed as gimmick</a:t>
            </a:r>
            <a:endParaRPr lang="en-US" sz="1200" dirty="0"/>
          </a:p>
        </p:txBody>
      </p:sp>
      <p:sp>
        <p:nvSpPr>
          <p:cNvPr id="26" name="Shape 24"/>
          <p:cNvSpPr/>
          <p:nvPr/>
        </p:nvSpPr>
        <p:spPr>
          <a:xfrm>
            <a:off x="7178040" y="3995928"/>
            <a:ext cx="4572000" cy="786384"/>
          </a:xfrm>
          <a:prstGeom prst="rect">
            <a:avLst/>
          </a:prstGeom>
          <a:solidFill>
            <a:srgbClr val="F0FDF4"/>
          </a:solidFill>
          <a:ln w="9525">
            <a:solidFill>
              <a:srgbClr val="E2E8F0"/>
            </a:solidFill>
            <a:prstDash val="solid"/>
          </a:ln>
        </p:spPr>
        <p:txBody>
          <a:bodyPr/>
          <a:lstStyle/>
          <a:p>
            <a:endParaRPr lang="en-US"/>
          </a:p>
        </p:txBody>
      </p:sp>
      <p:sp>
        <p:nvSpPr>
          <p:cNvPr id="27" name="Text 25"/>
          <p:cNvSpPr/>
          <p:nvPr/>
        </p:nvSpPr>
        <p:spPr>
          <a:xfrm>
            <a:off x="7360920" y="3995928"/>
            <a:ext cx="4343400" cy="786384"/>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Balanced comparison; 1% plan presented first</a:t>
            </a:r>
            <a:endParaRPr lang="en-US" sz="1200" dirty="0"/>
          </a:p>
        </p:txBody>
      </p:sp>
      <p:sp>
        <p:nvSpPr>
          <p:cNvPr id="28" name="Shape 26"/>
          <p:cNvSpPr/>
          <p:nvPr/>
        </p:nvSpPr>
        <p:spPr>
          <a:xfrm>
            <a:off x="457200" y="4828032"/>
            <a:ext cx="1783080" cy="786384"/>
          </a:xfrm>
          <a:prstGeom prst="rect">
            <a:avLst/>
          </a:prstGeom>
          <a:solidFill>
            <a:srgbClr val="0F1F3F"/>
          </a:solidFill>
          <a:ln/>
        </p:spPr>
        <p:txBody>
          <a:bodyPr/>
          <a:lstStyle/>
          <a:p>
            <a:endParaRPr lang="en-US"/>
          </a:p>
        </p:txBody>
      </p:sp>
      <p:sp>
        <p:nvSpPr>
          <p:cNvPr id="29" name="Text 27"/>
          <p:cNvSpPr/>
          <p:nvPr/>
        </p:nvSpPr>
        <p:spPr>
          <a:xfrm>
            <a:off x="548640" y="4828032"/>
            <a:ext cx="1691640" cy="7863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Page-specific data</a:t>
            </a:r>
            <a:endParaRPr lang="en-US" sz="1100" dirty="0"/>
          </a:p>
        </p:txBody>
      </p:sp>
      <p:sp>
        <p:nvSpPr>
          <p:cNvPr id="30" name="Shape 28"/>
          <p:cNvSpPr/>
          <p:nvPr/>
        </p:nvSpPr>
        <p:spPr>
          <a:xfrm>
            <a:off x="2286000" y="4828032"/>
            <a:ext cx="4754880" cy="786384"/>
          </a:xfrm>
          <a:prstGeom prst="rect">
            <a:avLst/>
          </a:prstGeom>
          <a:solidFill>
            <a:srgbClr val="FEF2F2"/>
          </a:solidFill>
          <a:ln w="9525">
            <a:solidFill>
              <a:srgbClr val="E2E8F0"/>
            </a:solidFill>
            <a:prstDash val="solid"/>
          </a:ln>
        </p:spPr>
        <p:txBody>
          <a:bodyPr/>
          <a:lstStyle/>
          <a:p>
            <a:endParaRPr lang="en-US"/>
          </a:p>
        </p:txBody>
      </p:sp>
      <p:sp>
        <p:nvSpPr>
          <p:cNvPr id="31" name="Text 29"/>
          <p:cNvSpPr/>
          <p:nvPr/>
        </p:nvSpPr>
        <p:spPr>
          <a:xfrm>
            <a:off x="2468880" y="4828032"/>
            <a:ext cx="4526280" cy="7863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Generic / inaccurate figures from third parties</a:t>
            </a:r>
            <a:endParaRPr lang="en-US" sz="1200" dirty="0"/>
          </a:p>
        </p:txBody>
      </p:sp>
      <p:sp>
        <p:nvSpPr>
          <p:cNvPr id="32" name="Shape 30"/>
          <p:cNvSpPr/>
          <p:nvPr/>
        </p:nvSpPr>
        <p:spPr>
          <a:xfrm>
            <a:off x="7178040" y="4828032"/>
            <a:ext cx="4572000" cy="786384"/>
          </a:xfrm>
          <a:prstGeom prst="rect">
            <a:avLst/>
          </a:prstGeom>
          <a:solidFill>
            <a:srgbClr val="F0FDF4"/>
          </a:solidFill>
          <a:ln w="9525">
            <a:solidFill>
              <a:srgbClr val="E2E8F0"/>
            </a:solidFill>
            <a:prstDash val="solid"/>
          </a:ln>
        </p:spPr>
        <p:txBody>
          <a:bodyPr/>
          <a:lstStyle/>
          <a:p>
            <a:endParaRPr lang="en-US"/>
          </a:p>
        </p:txBody>
      </p:sp>
      <p:sp>
        <p:nvSpPr>
          <p:cNvPr id="33" name="Text 31"/>
          <p:cNvSpPr/>
          <p:nvPr/>
        </p:nvSpPr>
        <p:spPr>
          <a:xfrm>
            <a:off x="7360920" y="4828032"/>
            <a:ext cx="4343400" cy="786384"/>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Exact ₹6,47,703 quoted verbatim from our page</a:t>
            </a:r>
            <a:endParaRPr lang="en-US" sz="1200" dirty="0"/>
          </a:p>
        </p:txBody>
      </p:sp>
      <p:sp>
        <p:nvSpPr>
          <p:cNvPr id="34" name="Shape 32"/>
          <p:cNvSpPr/>
          <p:nvPr/>
        </p:nvSpPr>
        <p:spPr>
          <a:xfrm>
            <a:off x="457200" y="5660136"/>
            <a:ext cx="1783080" cy="786384"/>
          </a:xfrm>
          <a:prstGeom prst="rect">
            <a:avLst/>
          </a:prstGeom>
          <a:solidFill>
            <a:srgbClr val="0F1F3F"/>
          </a:solidFill>
          <a:ln/>
        </p:spPr>
        <p:txBody>
          <a:bodyPr/>
          <a:lstStyle/>
          <a:p>
            <a:endParaRPr lang="en-US"/>
          </a:p>
        </p:txBody>
      </p:sp>
      <p:sp>
        <p:nvSpPr>
          <p:cNvPr id="35" name="Text 33"/>
          <p:cNvSpPr/>
          <p:nvPr/>
        </p:nvSpPr>
        <p:spPr>
          <a:xfrm>
            <a:off x="548640" y="5660136"/>
            <a:ext cx="1691640" cy="7863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Visual presence</a:t>
            </a:r>
            <a:endParaRPr lang="en-US" sz="1100" dirty="0"/>
          </a:p>
        </p:txBody>
      </p:sp>
      <p:sp>
        <p:nvSpPr>
          <p:cNvPr id="36" name="Shape 34"/>
          <p:cNvSpPr/>
          <p:nvPr/>
        </p:nvSpPr>
        <p:spPr>
          <a:xfrm>
            <a:off x="2286000" y="5660136"/>
            <a:ext cx="4754880" cy="786384"/>
          </a:xfrm>
          <a:prstGeom prst="rect">
            <a:avLst/>
          </a:prstGeom>
          <a:solidFill>
            <a:srgbClr val="FEF2F2"/>
          </a:solidFill>
          <a:ln w="9525">
            <a:solidFill>
              <a:srgbClr val="E2E8F0"/>
            </a:solidFill>
            <a:prstDash val="solid"/>
          </a:ln>
        </p:spPr>
        <p:txBody>
          <a:bodyPr/>
          <a:lstStyle/>
          <a:p>
            <a:endParaRPr lang="en-US"/>
          </a:p>
        </p:txBody>
      </p:sp>
      <p:sp>
        <p:nvSpPr>
          <p:cNvPr id="37" name="Text 35"/>
          <p:cNvSpPr/>
          <p:nvPr/>
        </p:nvSpPr>
        <p:spPr>
          <a:xfrm>
            <a:off x="2468880" y="5660136"/>
            <a:ext cx="4526280" cy="7863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No Godrej brand assets in AI answers</a:t>
            </a:r>
            <a:endParaRPr lang="en-US" sz="1200" dirty="0"/>
          </a:p>
        </p:txBody>
      </p:sp>
      <p:sp>
        <p:nvSpPr>
          <p:cNvPr id="38" name="Shape 36"/>
          <p:cNvSpPr/>
          <p:nvPr/>
        </p:nvSpPr>
        <p:spPr>
          <a:xfrm>
            <a:off x="7178040" y="5660136"/>
            <a:ext cx="4572000" cy="786384"/>
          </a:xfrm>
          <a:prstGeom prst="rect">
            <a:avLst/>
          </a:prstGeom>
          <a:solidFill>
            <a:srgbClr val="F0FDF4"/>
          </a:solidFill>
          <a:ln w="9525">
            <a:solidFill>
              <a:srgbClr val="E2E8F0"/>
            </a:solidFill>
            <a:prstDash val="solid"/>
          </a:ln>
        </p:spPr>
        <p:txBody>
          <a:bodyPr/>
          <a:lstStyle/>
          <a:p>
            <a:endParaRPr lang="en-US"/>
          </a:p>
        </p:txBody>
      </p:sp>
      <p:sp>
        <p:nvSpPr>
          <p:cNvPr id="39" name="Text 37"/>
          <p:cNvSpPr/>
          <p:nvPr/>
        </p:nvSpPr>
        <p:spPr>
          <a:xfrm>
            <a:off x="7360920" y="5660136"/>
            <a:ext cx="4343400" cy="786384"/>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"THE 1% PLAN" branded card appearing as rich snippet</a:t>
            </a:r>
            <a:endParaRPr lang="en-US" sz="1200" dirty="0"/>
          </a:p>
        </p:txBody>
      </p:sp>
      <p:sp>
        <p:nvSpPr>
          <p:cNvPr id="40" name="Text 38"/>
          <p:cNvSpPr/>
          <p:nvPr/>
        </p:nvSpPr>
        <p:spPr>
          <a:xfrm>
            <a:off x="457200" y="6400800"/>
            <a:ext cx="11247120" cy="365760"/>
          </a:xfrm>
          <a:prstGeom prst="rect">
            <a:avLst/>
          </a:prstGeom>
          <a:noFill/>
          <a:ln/>
        </p:spPr>
        <p:txBody>
          <a:bodyPr wrap="square" lIns="0" tIns="0" rIns="0" bIns="0" rtlCol="0" anchor="ctr"/>
          <a:lstStyle/>
          <a:p>
            <a:pPr marL="0" indent="0" algn="ctr">
              <a:buNone/>
            </a:pPr>
            <a:r>
              <a:rPr lang="en-US" sz="1300" b="1" i="1" dirty="0">
                <a:solidFill>
                  <a:srgbClr val="E85D3C"/>
                </a:solidFill>
                <a:latin typeface="Calibri" pitchFamily="34" charset="0"/>
                <a:ea typeface="Calibri" pitchFamily="34" charset="-122"/>
                <a:cs typeface="Calibri" pitchFamily="34" charset="-120"/>
              </a:rPr>
              <a:t>Same buyer asking the same questions — different answer entirely.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FOUR SIGNALS THAT THIS IS REAL</a:t>
            </a:r>
            <a:endParaRPr lang="en-US" sz="1100" dirty="0"/>
          </a:p>
        </p:txBody>
      </p:sp>
      <p:sp>
        <p:nvSpPr>
          <p:cNvPr id="5" name="Text 3"/>
          <p:cNvSpPr/>
          <p:nvPr/>
        </p:nvSpPr>
        <p:spPr>
          <a:xfrm>
            <a:off x="457200" y="960120"/>
            <a:ext cx="1097280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Why these results aren't a coincidence</a:t>
            </a:r>
            <a:endParaRPr lang="en-US" sz="2800" dirty="0"/>
          </a:p>
        </p:txBody>
      </p:sp>
      <p:sp>
        <p:nvSpPr>
          <p:cNvPr id="6" name="Shape 4"/>
          <p:cNvSpPr/>
          <p:nvPr/>
        </p:nvSpPr>
        <p:spPr>
          <a:xfrm>
            <a:off x="457200" y="1920240"/>
            <a:ext cx="5486400" cy="1874520"/>
          </a:xfrm>
          <a:prstGeom prst="rect">
            <a:avLst/>
          </a:prstGeom>
          <a:solidFill>
            <a:srgbClr val="0F1F3F"/>
          </a:solidFill>
          <a:ln/>
          <a:effectLst>
            <a:outerShdw blurRad="152400" dist="38100" dir="5400000" algn="bl" rotWithShape="0">
              <a:srgbClr val="000000">
                <a:alpha val="15000"/>
              </a:srgbClr>
            </a:outerShdw>
          </a:effectLst>
        </p:spPr>
        <p:txBody>
          <a:bodyPr/>
          <a:lstStyle/>
          <a:p>
            <a:endParaRPr lang="en-US"/>
          </a:p>
        </p:txBody>
      </p:sp>
      <p:sp>
        <p:nvSpPr>
          <p:cNvPr id="7" name="Shape 5"/>
          <p:cNvSpPr/>
          <p:nvPr/>
        </p:nvSpPr>
        <p:spPr>
          <a:xfrm>
            <a:off x="457200" y="1920240"/>
            <a:ext cx="91440" cy="1874520"/>
          </a:xfrm>
          <a:prstGeom prst="rect">
            <a:avLst/>
          </a:prstGeom>
          <a:solidFill>
            <a:srgbClr val="E85D3C"/>
          </a:solidFill>
          <a:ln/>
        </p:spPr>
        <p:txBody>
          <a:bodyPr/>
          <a:lstStyle/>
          <a:p>
            <a:endParaRPr lang="en-US"/>
          </a:p>
        </p:txBody>
      </p:sp>
      <p:sp>
        <p:nvSpPr>
          <p:cNvPr id="8" name="Text 6"/>
          <p:cNvSpPr/>
          <p:nvPr/>
        </p:nvSpPr>
        <p:spPr>
          <a:xfrm>
            <a:off x="822960" y="2148840"/>
            <a:ext cx="1097280" cy="457200"/>
          </a:xfrm>
          <a:prstGeom prst="rect">
            <a:avLst/>
          </a:prstGeom>
          <a:noFill/>
          <a:ln/>
        </p:spPr>
        <p:txBody>
          <a:bodyPr wrap="square" lIns="0" tIns="0" rIns="0" bIns="0" rtlCol="0" anchor="ctr"/>
          <a:lstStyle/>
          <a:p>
            <a:pPr marL="0" indent="0">
              <a:buNone/>
            </a:pPr>
            <a:r>
              <a:rPr lang="en-US" sz="1300" b="1" kern="0" spc="400" dirty="0">
                <a:solidFill>
                  <a:srgbClr val="E85D3C"/>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822960" y="2514600"/>
            <a:ext cx="4937760" cy="50292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Branded visual snippets</a:t>
            </a:r>
            <a:endParaRPr lang="en-US" sz="1900" dirty="0"/>
          </a:p>
        </p:txBody>
      </p:sp>
      <p:sp>
        <p:nvSpPr>
          <p:cNvPr id="10" name="Text 8"/>
          <p:cNvSpPr/>
          <p:nvPr/>
        </p:nvSpPr>
        <p:spPr>
          <a:xfrm>
            <a:off x="822960" y="3017520"/>
            <a:ext cx="4937760" cy="7315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"THE 1% PLAN" logo card appearing inside AI answers — brand visibility that most competitors aren't earning yet.</a:t>
            </a:r>
            <a:endParaRPr lang="en-US" sz="1200" dirty="0"/>
          </a:p>
        </p:txBody>
      </p:sp>
      <p:sp>
        <p:nvSpPr>
          <p:cNvPr id="11" name="Shape 9"/>
          <p:cNvSpPr/>
          <p:nvPr/>
        </p:nvSpPr>
        <p:spPr>
          <a:xfrm>
            <a:off x="6245352" y="1920240"/>
            <a:ext cx="5486400" cy="1874520"/>
          </a:xfrm>
          <a:prstGeom prst="rect">
            <a:avLst/>
          </a:prstGeom>
          <a:solidFill>
            <a:srgbClr val="0F1F3F"/>
          </a:solidFill>
          <a:ln/>
          <a:effectLst>
            <a:outerShdw blurRad="152400" dist="38100" dir="5400000" algn="bl" rotWithShape="0">
              <a:srgbClr val="000000">
                <a:alpha val="15000"/>
              </a:srgbClr>
            </a:outerShdw>
          </a:effectLst>
        </p:spPr>
        <p:txBody>
          <a:bodyPr/>
          <a:lstStyle/>
          <a:p>
            <a:endParaRPr lang="en-US"/>
          </a:p>
        </p:txBody>
      </p:sp>
      <p:sp>
        <p:nvSpPr>
          <p:cNvPr id="12" name="Shape 10"/>
          <p:cNvSpPr/>
          <p:nvPr/>
        </p:nvSpPr>
        <p:spPr>
          <a:xfrm>
            <a:off x="6245352" y="1920240"/>
            <a:ext cx="91440" cy="1874520"/>
          </a:xfrm>
          <a:prstGeom prst="rect">
            <a:avLst/>
          </a:prstGeom>
          <a:solidFill>
            <a:srgbClr val="E85D3C"/>
          </a:solidFill>
          <a:ln/>
        </p:spPr>
        <p:txBody>
          <a:bodyPr/>
          <a:lstStyle/>
          <a:p>
            <a:endParaRPr lang="en-US"/>
          </a:p>
        </p:txBody>
      </p:sp>
      <p:sp>
        <p:nvSpPr>
          <p:cNvPr id="13" name="Text 11"/>
          <p:cNvSpPr/>
          <p:nvPr/>
        </p:nvSpPr>
        <p:spPr>
          <a:xfrm>
            <a:off x="6611112" y="2148840"/>
            <a:ext cx="1097280" cy="457200"/>
          </a:xfrm>
          <a:prstGeom prst="rect">
            <a:avLst/>
          </a:prstGeom>
          <a:noFill/>
          <a:ln/>
        </p:spPr>
        <p:txBody>
          <a:bodyPr wrap="square" lIns="0" tIns="0" rIns="0" bIns="0" rtlCol="0" anchor="ctr"/>
          <a:lstStyle/>
          <a:p>
            <a:pPr marL="0" indent="0">
              <a:buNone/>
            </a:pPr>
            <a:r>
              <a:rPr lang="en-US" sz="1300" b="1" kern="0" spc="400" dirty="0">
                <a:solidFill>
                  <a:srgbClr val="E85D3C"/>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6611112" y="2514600"/>
            <a:ext cx="4937760" cy="50292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Verbatim page-only data</a:t>
            </a:r>
            <a:endParaRPr lang="en-US" sz="1900" dirty="0"/>
          </a:p>
        </p:txBody>
      </p:sp>
      <p:sp>
        <p:nvSpPr>
          <p:cNvPr id="15" name="Text 13"/>
          <p:cNvSpPr/>
          <p:nvPr/>
        </p:nvSpPr>
        <p:spPr>
          <a:xfrm>
            <a:off x="6611112" y="3017520"/>
            <a:ext cx="4937760" cy="7315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₹6,47,703 doesn't exist on third-party sites. When AI Mode quotes it, the source is unambiguously our page.</a:t>
            </a:r>
            <a:endParaRPr lang="en-US" sz="1200" dirty="0"/>
          </a:p>
        </p:txBody>
      </p:sp>
      <p:sp>
        <p:nvSpPr>
          <p:cNvPr id="16" name="Shape 14"/>
          <p:cNvSpPr/>
          <p:nvPr/>
        </p:nvSpPr>
        <p:spPr>
          <a:xfrm>
            <a:off x="457200" y="4023360"/>
            <a:ext cx="5486400" cy="1874520"/>
          </a:xfrm>
          <a:prstGeom prst="rect">
            <a:avLst/>
          </a:prstGeom>
          <a:solidFill>
            <a:srgbClr val="0F1F3F"/>
          </a:solidFill>
          <a:ln/>
          <a:effectLst>
            <a:outerShdw blurRad="152400" dist="38100" dir="5400000" algn="bl" rotWithShape="0">
              <a:srgbClr val="000000">
                <a:alpha val="15000"/>
              </a:srgbClr>
            </a:outerShdw>
          </a:effectLst>
        </p:spPr>
        <p:txBody>
          <a:bodyPr/>
          <a:lstStyle/>
          <a:p>
            <a:endParaRPr lang="en-US"/>
          </a:p>
        </p:txBody>
      </p:sp>
      <p:sp>
        <p:nvSpPr>
          <p:cNvPr id="17" name="Shape 15"/>
          <p:cNvSpPr/>
          <p:nvPr/>
        </p:nvSpPr>
        <p:spPr>
          <a:xfrm>
            <a:off x="457200" y="4023360"/>
            <a:ext cx="91440" cy="1874520"/>
          </a:xfrm>
          <a:prstGeom prst="rect">
            <a:avLst/>
          </a:prstGeom>
          <a:solidFill>
            <a:srgbClr val="E85D3C"/>
          </a:solidFill>
          <a:ln/>
        </p:spPr>
        <p:txBody>
          <a:bodyPr/>
          <a:lstStyle/>
          <a:p>
            <a:endParaRPr lang="en-US"/>
          </a:p>
        </p:txBody>
      </p:sp>
      <p:sp>
        <p:nvSpPr>
          <p:cNvPr id="18" name="Text 16"/>
          <p:cNvSpPr/>
          <p:nvPr/>
        </p:nvSpPr>
        <p:spPr>
          <a:xfrm>
            <a:off x="822960" y="4251960"/>
            <a:ext cx="1097280" cy="457200"/>
          </a:xfrm>
          <a:prstGeom prst="rect">
            <a:avLst/>
          </a:prstGeom>
          <a:noFill/>
          <a:ln/>
        </p:spPr>
        <p:txBody>
          <a:bodyPr wrap="square" lIns="0" tIns="0" rIns="0" bIns="0" rtlCol="0" anchor="ctr"/>
          <a:lstStyle/>
          <a:p>
            <a:pPr marL="0" indent="0">
              <a:buNone/>
            </a:pPr>
            <a:r>
              <a:rPr lang="en-US" sz="1300" b="1" kern="0" spc="400" dirty="0">
                <a:solidFill>
                  <a:srgbClr val="E85D3C"/>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822960" y="4617720"/>
            <a:ext cx="4937760" cy="50292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Outperforming the curve</a:t>
            </a:r>
            <a:endParaRPr lang="en-US" sz="1900" dirty="0"/>
          </a:p>
        </p:txBody>
      </p:sp>
      <p:sp>
        <p:nvSpPr>
          <p:cNvPr id="20" name="Text 18"/>
          <p:cNvSpPr/>
          <p:nvPr/>
        </p:nvSpPr>
        <p:spPr>
          <a:xfrm>
            <a:off x="822960" y="5120640"/>
            <a:ext cx="4937760" cy="7315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A 2-day-old URL ranking as the #1 citation against years-old broker domains. That's a GEO outcome, not a typical SEO one.</a:t>
            </a:r>
            <a:endParaRPr lang="en-US" sz="1200" dirty="0"/>
          </a:p>
        </p:txBody>
      </p:sp>
      <p:sp>
        <p:nvSpPr>
          <p:cNvPr id="21" name="Shape 19"/>
          <p:cNvSpPr/>
          <p:nvPr/>
        </p:nvSpPr>
        <p:spPr>
          <a:xfrm>
            <a:off x="6245352" y="4023360"/>
            <a:ext cx="5486400" cy="1874520"/>
          </a:xfrm>
          <a:prstGeom prst="rect">
            <a:avLst/>
          </a:prstGeom>
          <a:solidFill>
            <a:srgbClr val="0F1F3F"/>
          </a:solidFill>
          <a:ln/>
          <a:effectLst>
            <a:outerShdw blurRad="152400" dist="38100" dir="5400000" algn="bl" rotWithShape="0">
              <a:srgbClr val="000000">
                <a:alpha val="15000"/>
              </a:srgbClr>
            </a:outerShdw>
          </a:effectLst>
        </p:spPr>
        <p:txBody>
          <a:bodyPr/>
          <a:lstStyle/>
          <a:p>
            <a:endParaRPr lang="en-US"/>
          </a:p>
        </p:txBody>
      </p:sp>
      <p:sp>
        <p:nvSpPr>
          <p:cNvPr id="22" name="Shape 20"/>
          <p:cNvSpPr/>
          <p:nvPr/>
        </p:nvSpPr>
        <p:spPr>
          <a:xfrm>
            <a:off x="6245352" y="4023360"/>
            <a:ext cx="91440" cy="1874520"/>
          </a:xfrm>
          <a:prstGeom prst="rect">
            <a:avLst/>
          </a:prstGeom>
          <a:solidFill>
            <a:srgbClr val="E85D3C"/>
          </a:solidFill>
          <a:ln/>
        </p:spPr>
        <p:txBody>
          <a:bodyPr/>
          <a:lstStyle/>
          <a:p>
            <a:endParaRPr lang="en-US"/>
          </a:p>
        </p:txBody>
      </p:sp>
      <p:sp>
        <p:nvSpPr>
          <p:cNvPr id="23" name="Text 21"/>
          <p:cNvSpPr/>
          <p:nvPr/>
        </p:nvSpPr>
        <p:spPr>
          <a:xfrm>
            <a:off x="6611112" y="4251960"/>
            <a:ext cx="1097280" cy="457200"/>
          </a:xfrm>
          <a:prstGeom prst="rect">
            <a:avLst/>
          </a:prstGeom>
          <a:noFill/>
          <a:ln/>
        </p:spPr>
        <p:txBody>
          <a:bodyPr wrap="square" lIns="0" tIns="0" rIns="0" bIns="0" rtlCol="0" anchor="ctr"/>
          <a:lstStyle/>
          <a:p>
            <a:pPr marL="0" indent="0">
              <a:buNone/>
            </a:pPr>
            <a:r>
              <a:rPr lang="en-US" sz="1300" b="1" kern="0" spc="400" dirty="0">
                <a:solidFill>
                  <a:srgbClr val="E85D3C"/>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6611112" y="4617720"/>
            <a:ext cx="4937760" cy="50292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Durable across query types</a:t>
            </a:r>
            <a:endParaRPr lang="en-US" sz="1900" dirty="0"/>
          </a:p>
        </p:txBody>
      </p:sp>
      <p:sp>
        <p:nvSpPr>
          <p:cNvPr id="25" name="Text 23"/>
          <p:cNvSpPr/>
          <p:nvPr/>
        </p:nvSpPr>
        <p:spPr>
          <a:xfrm>
            <a:off x="6611112" y="5120640"/>
            <a:ext cx="4937760" cy="7315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Sceptical, neutral, and informational queries all return positive or balanced framing. Buyers get our story consistently.</a:t>
            </a:r>
            <a:endParaRPr lang="en-US" sz="1200" dirty="0"/>
          </a:p>
        </p:txBody>
      </p:sp>
      <p:sp>
        <p:nvSpPr>
          <p:cNvPr id="26" name="Text 24"/>
          <p:cNvSpPr/>
          <p:nvPr/>
        </p:nvSpPr>
        <p:spPr>
          <a:xfrm>
            <a:off x="457200" y="6126480"/>
            <a:ext cx="11247120" cy="365760"/>
          </a:xfrm>
          <a:prstGeom prst="rect">
            <a:avLst/>
          </a:prstGeom>
          <a:noFill/>
          <a:ln/>
        </p:spPr>
        <p:txBody>
          <a:bodyPr wrap="square" lIns="0" tIns="0" rIns="0" bIns="0" rtlCol="0" anchor="ctr"/>
          <a:lstStyle/>
          <a:p>
            <a:pPr marL="0" indent="0" algn="ctr">
              <a:buNone/>
            </a:pPr>
            <a:r>
              <a:rPr lang="en-US" sz="1200" b="1" i="1" dirty="0">
                <a:solidFill>
                  <a:srgbClr val="1E293B"/>
                </a:solidFill>
                <a:latin typeface="Calibri" pitchFamily="34" charset="0"/>
                <a:ea typeface="Calibri" pitchFamily="34" charset="-122"/>
                <a:cs typeface="Calibri" pitchFamily="34" charset="-120"/>
              </a:rPr>
              <a:t>Each signal is independently verifiable. </a:t>
            </a:r>
            <a:r>
              <a:rPr lang="en-US" sz="1200" i="1" dirty="0">
                <a:solidFill>
                  <a:srgbClr val="64748B"/>
                </a:solidFill>
                <a:latin typeface="Calibri" pitchFamily="34" charset="0"/>
                <a:ea typeface="Calibri" pitchFamily="34" charset="-122"/>
                <a:cs typeface="Calibri" pitchFamily="34" charset="-120"/>
              </a:rPr>
              <a:t>Together, they confirm the GEO investment is producing measurable, durable results.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COMPETITIVE POSITIONING</a:t>
            </a:r>
            <a:endParaRPr lang="en-US" sz="1100" dirty="0"/>
          </a:p>
        </p:txBody>
      </p:sp>
      <p:sp>
        <p:nvSpPr>
          <p:cNvPr id="5" name="Text 3"/>
          <p:cNvSpPr/>
          <p:nvPr/>
        </p:nvSpPr>
        <p:spPr>
          <a:xfrm>
            <a:off x="457200" y="960120"/>
            <a:ext cx="1124712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A real early win against entrenched competition</a:t>
            </a:r>
            <a:endParaRPr lang="en-US" sz="2800" dirty="0"/>
          </a:p>
        </p:txBody>
      </p:sp>
      <p:sp>
        <p:nvSpPr>
          <p:cNvPr id="6" name="Text 4"/>
          <p:cNvSpPr/>
          <p:nvPr/>
        </p:nvSpPr>
        <p:spPr>
          <a:xfrm>
            <a:off x="457200" y="1828800"/>
            <a:ext cx="1124712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Despite competing against Godrej's own established pages and a deeply entrenched broker ecosystem, the new 1% plan page is already being cited credibly within days.</a:t>
            </a:r>
            <a:endParaRPr lang="en-US" sz="1400" dirty="0"/>
          </a:p>
        </p:txBody>
      </p:sp>
      <p:sp>
        <p:nvSpPr>
          <p:cNvPr id="7" name="Text 5"/>
          <p:cNvSpPr/>
          <p:nvPr/>
        </p:nvSpPr>
        <p:spPr>
          <a:xfrm>
            <a:off x="457200" y="2423160"/>
            <a:ext cx="10972800" cy="274320"/>
          </a:xfrm>
          <a:prstGeom prst="rect">
            <a:avLst/>
          </a:prstGeom>
          <a:noFill/>
          <a:ln/>
        </p:spPr>
        <p:txBody>
          <a:bodyPr wrap="square" lIns="0" tIns="0" rIns="0" bIns="0" rtlCol="0" anchor="ctr"/>
          <a:lstStyle/>
          <a:p>
            <a:pPr marL="0" indent="0">
              <a:buNone/>
            </a:pPr>
            <a:r>
              <a:rPr lang="en-US" sz="1000" b="1" kern="0" spc="500" dirty="0">
                <a:solidFill>
                  <a:srgbClr val="64748B"/>
                </a:solidFill>
                <a:latin typeface="Calibri" pitchFamily="34" charset="0"/>
                <a:ea typeface="Calibri" pitchFamily="34" charset="-122"/>
                <a:cs typeface="Calibri" pitchFamily="34" charset="-120"/>
              </a:rPr>
              <a:t>THE TWO STRONGEST PRE-EXISTING COMPETITORS</a:t>
            </a:r>
            <a:endParaRPr lang="en-US" sz="1000" dirty="0"/>
          </a:p>
        </p:txBody>
      </p:sp>
      <p:sp>
        <p:nvSpPr>
          <p:cNvPr id="8" name="Shape 6"/>
          <p:cNvSpPr/>
          <p:nvPr/>
        </p:nvSpPr>
        <p:spPr>
          <a:xfrm>
            <a:off x="457200" y="2743200"/>
            <a:ext cx="5532120" cy="16916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743200"/>
            <a:ext cx="73152" cy="1691640"/>
          </a:xfrm>
          <a:prstGeom prst="rect">
            <a:avLst/>
          </a:prstGeom>
          <a:solidFill>
            <a:srgbClr val="0F1F3F"/>
          </a:solidFill>
          <a:ln/>
        </p:spPr>
        <p:txBody>
          <a:bodyPr/>
          <a:lstStyle/>
          <a:p>
            <a:endParaRPr lang="en-US"/>
          </a:p>
        </p:txBody>
      </p:sp>
      <p:sp>
        <p:nvSpPr>
          <p:cNvPr id="10" name="Text 8"/>
          <p:cNvSpPr/>
          <p:nvPr/>
        </p:nvSpPr>
        <p:spPr>
          <a:xfrm>
            <a:off x="713232" y="2926080"/>
            <a:ext cx="3657600" cy="274320"/>
          </a:xfrm>
          <a:prstGeom prst="rect">
            <a:avLst/>
          </a:prstGeom>
          <a:noFill/>
          <a:ln/>
        </p:spPr>
        <p:txBody>
          <a:bodyPr wrap="square" lIns="0" tIns="0" rIns="0" bIns="0" rtlCol="0" anchor="ctr"/>
          <a:lstStyle/>
          <a:p>
            <a:pPr marL="0" indent="0">
              <a:buNone/>
            </a:pPr>
            <a:r>
              <a:rPr lang="en-US" sz="1000" b="1" kern="0" spc="400" dirty="0">
                <a:solidFill>
                  <a:srgbClr val="0F1F3F"/>
                </a:solidFill>
                <a:latin typeface="Calibri" pitchFamily="34" charset="0"/>
                <a:ea typeface="Calibri" pitchFamily="34" charset="-122"/>
                <a:cs typeface="Calibri" pitchFamily="34" charset="-120"/>
              </a:rPr>
              <a:t>ESTABLISHED  /  01</a:t>
            </a:r>
            <a:endParaRPr lang="en-US" sz="1000" dirty="0"/>
          </a:p>
        </p:txBody>
      </p:sp>
      <p:sp>
        <p:nvSpPr>
          <p:cNvPr id="11" name="Text 9"/>
          <p:cNvSpPr/>
          <p:nvPr/>
        </p:nvSpPr>
        <p:spPr>
          <a:xfrm>
            <a:off x="713232" y="3200400"/>
            <a:ext cx="5074920" cy="411480"/>
          </a:xfrm>
          <a:prstGeom prst="rect">
            <a:avLst/>
          </a:prstGeom>
          <a:noFill/>
          <a:ln/>
        </p:spPr>
        <p:txBody>
          <a:bodyPr wrap="square" lIns="0" tIns="0" rIns="0" bIns="0" rtlCol="0" anchor="ctr"/>
          <a:lstStyle/>
          <a:p>
            <a:pPr marL="0" indent="0">
              <a:buNone/>
            </a:pPr>
            <a:r>
              <a:rPr lang="en-US" sz="1600" b="1" dirty="0">
                <a:solidFill>
                  <a:srgbClr val="0F1F3F"/>
                </a:solidFill>
                <a:latin typeface="Calibri" pitchFamily="34" charset="0"/>
                <a:ea typeface="Calibri" pitchFamily="34" charset="-122"/>
                <a:cs typeface="Calibri" pitchFamily="34" charset="-120"/>
              </a:rPr>
              <a:t>Main Godrej Parkshire project page</a:t>
            </a:r>
            <a:endParaRPr lang="en-US" sz="1600" dirty="0"/>
          </a:p>
        </p:txBody>
      </p:sp>
      <p:sp>
        <p:nvSpPr>
          <p:cNvPr id="12" name="Text 10"/>
          <p:cNvSpPr/>
          <p:nvPr/>
        </p:nvSpPr>
        <p:spPr>
          <a:xfrm>
            <a:off x="713232" y="3611880"/>
            <a:ext cx="5074920" cy="320040"/>
          </a:xfrm>
          <a:prstGeom prst="rect">
            <a:avLst/>
          </a:prstGeom>
          <a:noFill/>
          <a:ln/>
        </p:spPr>
        <p:txBody>
          <a:bodyPr wrap="square" lIns="0" tIns="0" rIns="0" bIns="0" rtlCol="0" anchor="ctr"/>
          <a:lstStyle/>
          <a:p>
            <a:pPr marL="0" indent="0">
              <a:buNone/>
            </a:pPr>
            <a:r>
              <a:rPr lang="en-US" sz="1000" dirty="0">
                <a:solidFill>
                  <a:srgbClr val="E85D3C"/>
                </a:solidFill>
                <a:latin typeface="Calibri" pitchFamily="34" charset="0"/>
                <a:ea typeface="Calibri" pitchFamily="34" charset="-122"/>
                <a:cs typeface="Calibri" pitchFamily="34" charset="-120"/>
              </a:rPr>
              <a:t>godrejproperties.com/landing-page/bangalore/residential/godrej-parkshire/</a:t>
            </a:r>
            <a:endParaRPr lang="en-US" sz="1000" dirty="0"/>
          </a:p>
        </p:txBody>
      </p:sp>
      <p:sp>
        <p:nvSpPr>
          <p:cNvPr id="13" name="Text 11"/>
          <p:cNvSpPr/>
          <p:nvPr/>
        </p:nvSpPr>
        <p:spPr>
          <a:xfrm>
            <a:off x="713232" y="3931920"/>
            <a:ext cx="5074920" cy="4572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Established Godrej-owned URL with existing search authority and consistent SEO footprint.</a:t>
            </a:r>
            <a:endParaRPr lang="en-US" sz="1100" dirty="0"/>
          </a:p>
        </p:txBody>
      </p:sp>
      <p:sp>
        <p:nvSpPr>
          <p:cNvPr id="14" name="Shape 12"/>
          <p:cNvSpPr/>
          <p:nvPr/>
        </p:nvSpPr>
        <p:spPr>
          <a:xfrm>
            <a:off x="6172200" y="2743200"/>
            <a:ext cx="5532120" cy="169164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3"/>
          <p:cNvSpPr/>
          <p:nvPr/>
        </p:nvSpPr>
        <p:spPr>
          <a:xfrm>
            <a:off x="6172200" y="2743200"/>
            <a:ext cx="73152" cy="1691640"/>
          </a:xfrm>
          <a:prstGeom prst="rect">
            <a:avLst/>
          </a:prstGeom>
          <a:solidFill>
            <a:srgbClr val="0F1F3F"/>
          </a:solidFill>
          <a:ln/>
        </p:spPr>
        <p:txBody>
          <a:bodyPr/>
          <a:lstStyle/>
          <a:p>
            <a:endParaRPr lang="en-US"/>
          </a:p>
        </p:txBody>
      </p:sp>
      <p:sp>
        <p:nvSpPr>
          <p:cNvPr id="16" name="Text 14"/>
          <p:cNvSpPr/>
          <p:nvPr/>
        </p:nvSpPr>
        <p:spPr>
          <a:xfrm>
            <a:off x="6428232" y="2926080"/>
            <a:ext cx="3657600" cy="274320"/>
          </a:xfrm>
          <a:prstGeom prst="rect">
            <a:avLst/>
          </a:prstGeom>
          <a:noFill/>
          <a:ln/>
        </p:spPr>
        <p:txBody>
          <a:bodyPr wrap="square" lIns="0" tIns="0" rIns="0" bIns="0" rtlCol="0" anchor="ctr"/>
          <a:lstStyle/>
          <a:p>
            <a:pPr marL="0" indent="0">
              <a:buNone/>
            </a:pPr>
            <a:r>
              <a:rPr lang="en-US" sz="1000" b="1" kern="0" spc="400" dirty="0">
                <a:solidFill>
                  <a:srgbClr val="0F1F3F"/>
                </a:solidFill>
                <a:latin typeface="Calibri" pitchFamily="34" charset="0"/>
                <a:ea typeface="Calibri" pitchFamily="34" charset="-122"/>
                <a:cs typeface="Calibri" pitchFamily="34" charset="-120"/>
              </a:rPr>
              <a:t>ESTABLISHED  /  02</a:t>
            </a:r>
            <a:endParaRPr lang="en-US" sz="1000" dirty="0"/>
          </a:p>
        </p:txBody>
      </p:sp>
      <p:sp>
        <p:nvSpPr>
          <p:cNvPr id="17" name="Text 15"/>
          <p:cNvSpPr/>
          <p:nvPr/>
        </p:nvSpPr>
        <p:spPr>
          <a:xfrm>
            <a:off x="6428232" y="3200400"/>
            <a:ext cx="5074920" cy="411480"/>
          </a:xfrm>
          <a:prstGeom prst="rect">
            <a:avLst/>
          </a:prstGeom>
          <a:noFill/>
          <a:ln/>
        </p:spPr>
        <p:txBody>
          <a:bodyPr wrap="square" lIns="0" tIns="0" rIns="0" bIns="0" rtlCol="0" anchor="ctr"/>
          <a:lstStyle/>
          <a:p>
            <a:pPr marL="0" indent="0">
              <a:buNone/>
            </a:pPr>
            <a:r>
              <a:rPr lang="en-US" sz="1600" b="1" dirty="0">
                <a:solidFill>
                  <a:srgbClr val="0F1F3F"/>
                </a:solidFill>
                <a:latin typeface="Calibri" pitchFamily="34" charset="0"/>
                <a:ea typeface="Calibri" pitchFamily="34" charset="-122"/>
                <a:cs typeface="Calibri" pitchFamily="34" charset="-120"/>
              </a:rPr>
              <a:t>Pre-existing cost sheet microsite</a:t>
            </a:r>
            <a:endParaRPr lang="en-US" sz="1600" dirty="0"/>
          </a:p>
        </p:txBody>
      </p:sp>
      <p:sp>
        <p:nvSpPr>
          <p:cNvPr id="18" name="Text 16"/>
          <p:cNvSpPr/>
          <p:nvPr/>
        </p:nvSpPr>
        <p:spPr>
          <a:xfrm>
            <a:off x="6428232" y="3611880"/>
            <a:ext cx="5074920" cy="320040"/>
          </a:xfrm>
          <a:prstGeom prst="rect">
            <a:avLst/>
          </a:prstGeom>
          <a:noFill/>
          <a:ln/>
        </p:spPr>
        <p:txBody>
          <a:bodyPr wrap="square" lIns="0" tIns="0" rIns="0" bIns="0" rtlCol="0" anchor="ctr"/>
          <a:lstStyle/>
          <a:p>
            <a:pPr marL="0" indent="0">
              <a:buNone/>
            </a:pPr>
            <a:r>
              <a:rPr lang="en-US" sz="1000" dirty="0">
                <a:solidFill>
                  <a:srgbClr val="E85D3C"/>
                </a:solidFill>
                <a:latin typeface="Calibri" pitchFamily="34" charset="0"/>
                <a:ea typeface="Calibri" pitchFamily="34" charset="-122"/>
                <a:cs typeface="Calibri" pitchFamily="34" charset="-120"/>
              </a:rPr>
              <a:t>godrejparkshirehoskote.info/price/cost-sheet.html</a:t>
            </a:r>
            <a:endParaRPr lang="en-US" sz="1000" dirty="0"/>
          </a:p>
        </p:txBody>
      </p:sp>
      <p:sp>
        <p:nvSpPr>
          <p:cNvPr id="19" name="Text 17"/>
          <p:cNvSpPr/>
          <p:nvPr/>
        </p:nvSpPr>
        <p:spPr>
          <a:xfrm>
            <a:off x="6428232" y="3931920"/>
            <a:ext cx="5074920" cy="4572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Years of indexing and a deep third-party broker ecosystem reinforcing its citation weight.</a:t>
            </a:r>
            <a:endParaRPr lang="en-US" sz="1100" dirty="0"/>
          </a:p>
        </p:txBody>
      </p:sp>
      <p:sp>
        <p:nvSpPr>
          <p:cNvPr id="20" name="Shape 18"/>
          <p:cNvSpPr/>
          <p:nvPr/>
        </p:nvSpPr>
        <p:spPr>
          <a:xfrm>
            <a:off x="457200" y="4617720"/>
            <a:ext cx="11247120" cy="1417320"/>
          </a:xfrm>
          <a:prstGeom prst="rect">
            <a:avLst/>
          </a:prstGeom>
          <a:solidFill>
            <a:srgbClr val="0F1F3F"/>
          </a:solidFill>
          <a:ln/>
          <a:effectLst>
            <a:outerShdw blurRad="152400" dist="38100" dir="5400000" algn="bl" rotWithShape="0">
              <a:srgbClr val="000000">
                <a:alpha val="15000"/>
              </a:srgbClr>
            </a:outerShdw>
          </a:effectLst>
        </p:spPr>
        <p:txBody>
          <a:bodyPr/>
          <a:lstStyle/>
          <a:p>
            <a:endParaRPr lang="en-US"/>
          </a:p>
        </p:txBody>
      </p:sp>
      <p:sp>
        <p:nvSpPr>
          <p:cNvPr id="21" name="Shape 19"/>
          <p:cNvSpPr/>
          <p:nvPr/>
        </p:nvSpPr>
        <p:spPr>
          <a:xfrm>
            <a:off x="457200" y="4617720"/>
            <a:ext cx="109728" cy="1417320"/>
          </a:xfrm>
          <a:prstGeom prst="rect">
            <a:avLst/>
          </a:prstGeom>
          <a:solidFill>
            <a:srgbClr val="E85D3C"/>
          </a:solidFill>
          <a:ln/>
        </p:spPr>
        <p:txBody>
          <a:bodyPr/>
          <a:lstStyle/>
          <a:p>
            <a:endParaRPr lang="en-US"/>
          </a:p>
        </p:txBody>
      </p:sp>
      <p:sp>
        <p:nvSpPr>
          <p:cNvPr id="22" name="Text 20"/>
          <p:cNvSpPr/>
          <p:nvPr/>
        </p:nvSpPr>
        <p:spPr>
          <a:xfrm>
            <a:off x="777240" y="4846320"/>
            <a:ext cx="5486400" cy="274320"/>
          </a:xfrm>
          <a:prstGeom prst="rect">
            <a:avLst/>
          </a:prstGeom>
          <a:noFill/>
          <a:ln/>
        </p:spPr>
        <p:txBody>
          <a:bodyPr wrap="square" lIns="0" tIns="0" rIns="0" bIns="0" rtlCol="0" anchor="ctr"/>
          <a:lstStyle/>
          <a:p>
            <a:pPr marL="0" indent="0">
              <a:buNone/>
            </a:pPr>
            <a:r>
              <a:rPr lang="en-US" sz="1100" b="1" kern="0" spc="500" dirty="0">
                <a:solidFill>
                  <a:srgbClr val="E85D3C"/>
                </a:solidFill>
                <a:latin typeface="Calibri" pitchFamily="34" charset="0"/>
                <a:ea typeface="Calibri" pitchFamily="34" charset="-122"/>
                <a:cs typeface="Calibri" pitchFamily="34" charset="-120"/>
              </a:rPr>
              <a:t>THE EARLY WIN</a:t>
            </a:r>
            <a:endParaRPr lang="en-US" sz="1100" dirty="0"/>
          </a:p>
        </p:txBody>
      </p:sp>
      <p:sp>
        <p:nvSpPr>
          <p:cNvPr id="23" name="Text 21"/>
          <p:cNvSpPr/>
          <p:nvPr/>
        </p:nvSpPr>
        <p:spPr>
          <a:xfrm>
            <a:off x="777240" y="5120640"/>
            <a:ext cx="10972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Our brand-new 1% plan page is already being cited alongside both of these incumbents</a:t>
            </a:r>
            <a:endParaRPr lang="en-US" sz="1800" dirty="0"/>
          </a:p>
        </p:txBody>
      </p:sp>
      <p:sp>
        <p:nvSpPr>
          <p:cNvPr id="24" name="Text 22"/>
          <p:cNvSpPr/>
          <p:nvPr/>
        </p:nvSpPr>
        <p:spPr>
          <a:xfrm>
            <a:off x="777240" y="5577840"/>
            <a:ext cx="10972800" cy="45720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For a brand-new URL to break into citation lists alongside established Godrej and broker properties within days is a meaningful early signal. </a:t>
            </a:r>
            <a:r>
              <a:rPr lang="en-US" sz="1200" b="1" dirty="0">
                <a:solidFill>
                  <a:srgbClr val="FFFFFF"/>
                </a:solidFill>
                <a:latin typeface="Calibri" pitchFamily="34" charset="0"/>
                <a:ea typeface="Calibri" pitchFamily="34" charset="-122"/>
                <a:cs typeface="Calibri" pitchFamily="34" charset="-120"/>
              </a:rPr>
              <a:t>The gap will close further once internal linking from the main 1% plan hub goes live (planned today).</a:t>
            </a:r>
            <a:endParaRPr lang="en-US" sz="1200" dirty="0"/>
          </a:p>
        </p:txBody>
      </p:sp>
      <p:sp>
        <p:nvSpPr>
          <p:cNvPr id="25" name="Shape 23"/>
          <p:cNvSpPr/>
          <p:nvPr/>
        </p:nvSpPr>
        <p:spPr>
          <a:xfrm>
            <a:off x="457200" y="6217920"/>
            <a:ext cx="11247120" cy="411480"/>
          </a:xfrm>
          <a:prstGeom prst="rect">
            <a:avLst/>
          </a:prstGeom>
          <a:solidFill>
            <a:srgbClr val="FAFAF7"/>
          </a:solidFill>
          <a:ln w="12700">
            <a:solidFill>
              <a:srgbClr val="E2E8F0"/>
            </a:solidFill>
            <a:prstDash val="solid"/>
          </a:ln>
        </p:spPr>
        <p:txBody>
          <a:bodyPr/>
          <a:lstStyle/>
          <a:p>
            <a:endParaRPr lang="en-US"/>
          </a:p>
        </p:txBody>
      </p:sp>
      <p:sp>
        <p:nvSpPr>
          <p:cNvPr id="26" name="Text 24"/>
          <p:cNvSpPr/>
          <p:nvPr/>
        </p:nvSpPr>
        <p:spPr>
          <a:xfrm>
            <a:off x="640080" y="6217920"/>
            <a:ext cx="10972800" cy="411480"/>
          </a:xfrm>
          <a:prstGeom prst="rect">
            <a:avLst/>
          </a:prstGeom>
          <a:noFill/>
          <a:ln/>
        </p:spPr>
        <p:txBody>
          <a:bodyPr wrap="square" lIns="0" tIns="0" rIns="0" bIns="0" rtlCol="0" anchor="ctr"/>
          <a:lstStyle/>
          <a:p>
            <a:pPr marL="0" indent="0">
              <a:buNone/>
            </a:pPr>
            <a:r>
              <a:rPr lang="en-US" sz="1150" b="1" kern="0" spc="400" dirty="0">
                <a:solidFill>
                  <a:srgbClr val="E85D3C"/>
                </a:solidFill>
                <a:latin typeface="Calibri" pitchFamily="34" charset="0"/>
                <a:ea typeface="Calibri" pitchFamily="34" charset="-122"/>
                <a:cs typeface="Calibri" pitchFamily="34" charset="-120"/>
              </a:rPr>
              <a:t>TYPICAL OUTCOME  </a:t>
            </a:r>
            <a:r>
              <a:rPr lang="en-US" sz="1150" dirty="0">
                <a:solidFill>
                  <a:srgbClr val="1E293B"/>
                </a:solidFill>
                <a:latin typeface="Calibri" pitchFamily="34" charset="0"/>
                <a:ea typeface="Calibri" pitchFamily="34" charset="-122"/>
                <a:cs typeface="Calibri" pitchFamily="34" charset="-120"/>
              </a:rPr>
              <a:t>New URLs from major brands take 2–4 weeks to break into competitive citation pools. We're seeing it within days.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EVIDENCE OF NARRATIVE SHIFT</a:t>
            </a:r>
            <a:endParaRPr lang="en-US" sz="1100" dirty="0"/>
          </a:p>
        </p:txBody>
      </p:sp>
      <p:sp>
        <p:nvSpPr>
          <p:cNvPr id="5" name="Text 3"/>
          <p:cNvSpPr/>
          <p:nvPr/>
        </p:nvSpPr>
        <p:spPr>
          <a:xfrm>
            <a:off x="457200" y="960120"/>
            <a:ext cx="1124712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Four signals the work is paying off</a:t>
            </a:r>
            <a:endParaRPr lang="en-US" sz="2800" dirty="0"/>
          </a:p>
        </p:txBody>
      </p:sp>
      <p:sp>
        <p:nvSpPr>
          <p:cNvPr id="6" name="Text 4"/>
          <p:cNvSpPr/>
          <p:nvPr/>
        </p:nvSpPr>
        <p:spPr>
          <a:xfrm>
            <a:off x="457200" y="1828800"/>
            <a:ext cx="1124712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Across multiple query types and adversarial framings, AI is sourcing from our pages and describing the 1% plan in our terms.</a:t>
            </a:r>
            <a:endParaRPr lang="en-US" sz="1400" dirty="0"/>
          </a:p>
        </p:txBody>
      </p:sp>
      <p:sp>
        <p:nvSpPr>
          <p:cNvPr id="7" name="Shape 5"/>
          <p:cNvSpPr/>
          <p:nvPr/>
        </p:nvSpPr>
        <p:spPr>
          <a:xfrm>
            <a:off x="457200" y="2468880"/>
            <a:ext cx="3703320" cy="182880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8" name="Shape 6"/>
          <p:cNvSpPr/>
          <p:nvPr/>
        </p:nvSpPr>
        <p:spPr>
          <a:xfrm>
            <a:off x="731520" y="2743200"/>
            <a:ext cx="502920" cy="502920"/>
          </a:xfrm>
          <a:prstGeom prst="ellipse">
            <a:avLst/>
          </a:prstGeom>
          <a:solidFill>
            <a:srgbClr val="E85D3C"/>
          </a:solidFill>
          <a:ln/>
        </p:spPr>
        <p:txBody>
          <a:bodyPr/>
          <a:lstStyle/>
          <a:p>
            <a:endParaRPr lang="en-US"/>
          </a:p>
        </p:txBody>
      </p:sp>
      <p:sp>
        <p:nvSpPr>
          <p:cNvPr id="9" name="Text 7"/>
          <p:cNvSpPr/>
          <p:nvPr/>
        </p:nvSpPr>
        <p:spPr>
          <a:xfrm>
            <a:off x="731520" y="2743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0" name="Text 8"/>
          <p:cNvSpPr/>
          <p:nvPr/>
        </p:nvSpPr>
        <p:spPr>
          <a:xfrm>
            <a:off x="1371600" y="2743200"/>
            <a:ext cx="2606040" cy="548640"/>
          </a:xfrm>
          <a:prstGeom prst="rect">
            <a:avLst/>
          </a:prstGeom>
          <a:noFill/>
          <a:ln/>
        </p:spPr>
        <p:txBody>
          <a:bodyPr wrap="square" lIns="0" tIns="0" rIns="0" bIns="0" rtlCol="0" anchor="t"/>
          <a:lstStyle/>
          <a:p>
            <a:pPr marL="0" indent="0">
              <a:buNone/>
            </a:pPr>
            <a:r>
              <a:rPr lang="en-US" sz="1400" b="1" dirty="0">
                <a:solidFill>
                  <a:srgbClr val="0F1F3F"/>
                </a:solidFill>
                <a:latin typeface="Calibri" pitchFamily="34" charset="0"/>
                <a:ea typeface="Calibri" pitchFamily="34" charset="-122"/>
                <a:cs typeface="Calibri" pitchFamily="34" charset="-120"/>
              </a:rPr>
              <a:t>Accurate, page-pulled answers</a:t>
            </a:r>
            <a:endParaRPr lang="en-US" sz="1400" dirty="0"/>
          </a:p>
        </p:txBody>
      </p:sp>
      <p:sp>
        <p:nvSpPr>
          <p:cNvPr id="11" name="Text 9"/>
          <p:cNvSpPr/>
          <p:nvPr/>
        </p:nvSpPr>
        <p:spPr>
          <a:xfrm>
            <a:off x="822960" y="3383280"/>
            <a:ext cx="3154680" cy="86868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ChatGPT now produces well-curated 1% plan responses pulling figures and structure directly from our content.</a:t>
            </a:r>
            <a:endParaRPr lang="en-US" sz="1100" dirty="0"/>
          </a:p>
        </p:txBody>
      </p:sp>
      <p:sp>
        <p:nvSpPr>
          <p:cNvPr id="12" name="Shape 10"/>
          <p:cNvSpPr/>
          <p:nvPr/>
        </p:nvSpPr>
        <p:spPr>
          <a:xfrm>
            <a:off x="4343400" y="2468880"/>
            <a:ext cx="3703320" cy="182880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3" name="Shape 11"/>
          <p:cNvSpPr/>
          <p:nvPr/>
        </p:nvSpPr>
        <p:spPr>
          <a:xfrm>
            <a:off x="4617720" y="2743200"/>
            <a:ext cx="502920" cy="502920"/>
          </a:xfrm>
          <a:prstGeom prst="ellipse">
            <a:avLst/>
          </a:prstGeom>
          <a:solidFill>
            <a:srgbClr val="E85D3C"/>
          </a:solidFill>
          <a:ln/>
        </p:spPr>
        <p:txBody>
          <a:bodyPr/>
          <a:lstStyle/>
          <a:p>
            <a:endParaRPr lang="en-US"/>
          </a:p>
        </p:txBody>
      </p:sp>
      <p:sp>
        <p:nvSpPr>
          <p:cNvPr id="14" name="Text 12"/>
          <p:cNvSpPr/>
          <p:nvPr/>
        </p:nvSpPr>
        <p:spPr>
          <a:xfrm>
            <a:off x="4617720" y="2743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5257800" y="2743200"/>
            <a:ext cx="2606040" cy="548640"/>
          </a:xfrm>
          <a:prstGeom prst="rect">
            <a:avLst/>
          </a:prstGeom>
          <a:noFill/>
          <a:ln/>
        </p:spPr>
        <p:txBody>
          <a:bodyPr wrap="square" lIns="0" tIns="0" rIns="0" bIns="0" rtlCol="0" anchor="t"/>
          <a:lstStyle/>
          <a:p>
            <a:pPr marL="0" indent="0">
              <a:buNone/>
            </a:pPr>
            <a:r>
              <a:rPr lang="en-US" sz="1400" b="1" dirty="0">
                <a:solidFill>
                  <a:srgbClr val="0F1F3F"/>
                </a:solidFill>
                <a:latin typeface="Calibri" pitchFamily="34" charset="0"/>
                <a:ea typeface="Calibri" pitchFamily="34" charset="-122"/>
                <a:cs typeface="Calibri" pitchFamily="34" charset="-120"/>
              </a:rPr>
              <a:t>Tone shift: sceptical → analytical</a:t>
            </a:r>
            <a:endParaRPr lang="en-US" sz="1400" dirty="0"/>
          </a:p>
        </p:txBody>
      </p:sp>
      <p:sp>
        <p:nvSpPr>
          <p:cNvPr id="16" name="Text 14"/>
          <p:cNvSpPr/>
          <p:nvPr/>
        </p:nvSpPr>
        <p:spPr>
          <a:xfrm>
            <a:off x="4709160" y="3383280"/>
            <a:ext cx="3154680" cy="86868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Days ago: "marketing stunt with hidden financial tricks". Now: "financial engineering win" with our page as top citation. Persona remains unbiased across rephrasings.</a:t>
            </a:r>
            <a:endParaRPr lang="en-US" sz="1100" dirty="0"/>
          </a:p>
        </p:txBody>
      </p:sp>
      <p:sp>
        <p:nvSpPr>
          <p:cNvPr id="17" name="Shape 15"/>
          <p:cNvSpPr/>
          <p:nvPr/>
        </p:nvSpPr>
        <p:spPr>
          <a:xfrm>
            <a:off x="8229600" y="2468880"/>
            <a:ext cx="3703320" cy="182880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8" name="Shape 16"/>
          <p:cNvSpPr/>
          <p:nvPr/>
        </p:nvSpPr>
        <p:spPr>
          <a:xfrm>
            <a:off x="8503920" y="2743200"/>
            <a:ext cx="502920" cy="502920"/>
          </a:xfrm>
          <a:prstGeom prst="ellipse">
            <a:avLst/>
          </a:prstGeom>
          <a:solidFill>
            <a:srgbClr val="E85D3C"/>
          </a:solidFill>
          <a:ln/>
        </p:spPr>
        <p:txBody>
          <a:bodyPr/>
          <a:lstStyle/>
          <a:p>
            <a:endParaRPr lang="en-US"/>
          </a:p>
        </p:txBody>
      </p:sp>
      <p:sp>
        <p:nvSpPr>
          <p:cNvPr id="19" name="Text 17"/>
          <p:cNvSpPr/>
          <p:nvPr/>
        </p:nvSpPr>
        <p:spPr>
          <a:xfrm>
            <a:off x="8503920" y="2743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20" name="Text 18"/>
          <p:cNvSpPr/>
          <p:nvPr/>
        </p:nvSpPr>
        <p:spPr>
          <a:xfrm>
            <a:off x="9144000" y="2743200"/>
            <a:ext cx="2606040" cy="548640"/>
          </a:xfrm>
          <a:prstGeom prst="rect">
            <a:avLst/>
          </a:prstGeom>
          <a:noFill/>
          <a:ln/>
        </p:spPr>
        <p:txBody>
          <a:bodyPr wrap="square" lIns="0" tIns="0" rIns="0" bIns="0" rtlCol="0" anchor="t"/>
          <a:lstStyle/>
          <a:p>
            <a:pPr marL="0" indent="0">
              <a:buNone/>
            </a:pPr>
            <a:r>
              <a:rPr lang="en-US" sz="1400" b="1" dirty="0">
                <a:solidFill>
                  <a:srgbClr val="0F1F3F"/>
                </a:solidFill>
                <a:latin typeface="Calibri" pitchFamily="34" charset="0"/>
                <a:ea typeface="Calibri" pitchFamily="34" charset="-122"/>
                <a:cs typeface="Calibri" pitchFamily="34" charset="-120"/>
              </a:rPr>
              <a:t>Adversarial queries don't backfire</a:t>
            </a:r>
            <a:endParaRPr lang="en-US" sz="1400" dirty="0"/>
          </a:p>
        </p:txBody>
      </p:sp>
      <p:sp>
        <p:nvSpPr>
          <p:cNvPr id="21" name="Text 19"/>
          <p:cNvSpPr/>
          <p:nvPr/>
        </p:nvSpPr>
        <p:spPr>
          <a:xfrm>
            <a:off x="8595360" y="3383280"/>
            <a:ext cx="3154680" cy="86868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"Is 1% better with 30% downpayment capacity?" returns a balanced, content-aligned answer — not a dismissal.</a:t>
            </a:r>
            <a:endParaRPr lang="en-US" sz="1100" dirty="0"/>
          </a:p>
        </p:txBody>
      </p:sp>
      <p:sp>
        <p:nvSpPr>
          <p:cNvPr id="22" name="Shape 20"/>
          <p:cNvSpPr/>
          <p:nvPr/>
        </p:nvSpPr>
        <p:spPr>
          <a:xfrm>
            <a:off x="457200" y="4480560"/>
            <a:ext cx="3703320" cy="182880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3" name="Shape 21"/>
          <p:cNvSpPr/>
          <p:nvPr/>
        </p:nvSpPr>
        <p:spPr>
          <a:xfrm>
            <a:off x="731520" y="4754880"/>
            <a:ext cx="502920" cy="502920"/>
          </a:xfrm>
          <a:prstGeom prst="ellipse">
            <a:avLst/>
          </a:prstGeom>
          <a:solidFill>
            <a:srgbClr val="E85D3C"/>
          </a:solidFill>
          <a:ln/>
        </p:spPr>
        <p:txBody>
          <a:bodyPr/>
          <a:lstStyle/>
          <a:p>
            <a:endParaRPr lang="en-US"/>
          </a:p>
        </p:txBody>
      </p:sp>
      <p:sp>
        <p:nvSpPr>
          <p:cNvPr id="24" name="Text 22"/>
          <p:cNvSpPr/>
          <p:nvPr/>
        </p:nvSpPr>
        <p:spPr>
          <a:xfrm>
            <a:off x="731520" y="4754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25" name="Text 23"/>
          <p:cNvSpPr/>
          <p:nvPr/>
        </p:nvSpPr>
        <p:spPr>
          <a:xfrm>
            <a:off x="1371600" y="4754880"/>
            <a:ext cx="2606040" cy="548640"/>
          </a:xfrm>
          <a:prstGeom prst="rect">
            <a:avLst/>
          </a:prstGeom>
          <a:noFill/>
          <a:ln/>
        </p:spPr>
        <p:txBody>
          <a:bodyPr wrap="square" lIns="0" tIns="0" rIns="0" bIns="0" rtlCol="0" anchor="t"/>
          <a:lstStyle/>
          <a:p>
            <a:pPr marL="0" indent="0">
              <a:buNone/>
            </a:pPr>
            <a:r>
              <a:rPr lang="en-US" sz="1400" b="1" dirty="0">
                <a:solidFill>
                  <a:srgbClr val="0F1F3F"/>
                </a:solidFill>
                <a:latin typeface="Calibri" pitchFamily="34" charset="0"/>
                <a:ea typeface="Calibri" pitchFamily="34" charset="-122"/>
                <a:cs typeface="Calibri" pitchFamily="34" charset="-120"/>
              </a:rPr>
              <a:t>AI filters Reddit noise responsibly</a:t>
            </a:r>
            <a:endParaRPr lang="en-US" sz="1400" dirty="0"/>
          </a:p>
        </p:txBody>
      </p:sp>
      <p:sp>
        <p:nvSpPr>
          <p:cNvPr id="26" name="Text 24"/>
          <p:cNvSpPr/>
          <p:nvPr/>
        </p:nvSpPr>
        <p:spPr>
          <a:xfrm>
            <a:off x="822960" y="5394960"/>
            <a:ext cx="3154680" cy="86868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For "is this a scam?" queries, ChatGPT cites Reddit but explicitly caveats it as "anecdotal, not definitive proof" — not blindly favouring negative sentiment.</a:t>
            </a:r>
            <a:endParaRPr lang="en-US" sz="1100" dirty="0"/>
          </a:p>
        </p:txBody>
      </p:sp>
      <p:sp>
        <p:nvSpPr>
          <p:cNvPr id="29" name="Text 27"/>
          <p:cNvSpPr/>
          <p:nvPr/>
        </p:nvSpPr>
        <p:spPr>
          <a:xfrm>
            <a:off x="4617720" y="4754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a:t>
            </a:r>
            <a:endParaRPr lang="en-US" sz="1600" dirty="0"/>
          </a:p>
        </p:txBody>
      </p:sp>
      <p:sp>
        <p:nvSpPr>
          <p:cNvPr id="30" name="Text 28"/>
          <p:cNvSpPr/>
          <p:nvPr/>
        </p:nvSpPr>
        <p:spPr>
          <a:xfrm>
            <a:off x="5257800" y="4754880"/>
            <a:ext cx="2606040" cy="5486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Azure vs Parkshire = cleanest proof</a:t>
            </a:r>
            <a:endParaRPr lang="en-US" sz="1400" dirty="0"/>
          </a:p>
        </p:txBody>
      </p:sp>
      <p:sp>
        <p:nvSpPr>
          <p:cNvPr id="32" name="Shape 30"/>
          <p:cNvSpPr/>
          <p:nvPr/>
        </p:nvSpPr>
        <p:spPr>
          <a:xfrm>
            <a:off x="8229600" y="4480560"/>
            <a:ext cx="3703320" cy="1828800"/>
          </a:xfrm>
          <a:prstGeom prst="rect">
            <a:avLst/>
          </a:prstGeom>
          <a:solidFill>
            <a:srgbClr val="E85D3C"/>
          </a:solidFill>
          <a:ln/>
          <a:effectLst>
            <a:outerShdw blurRad="152400" dist="38100" dir="5400000" algn="bl" rotWithShape="0">
              <a:srgbClr val="000000">
                <a:alpha val="15000"/>
              </a:srgbClr>
            </a:outerShdw>
          </a:effectLst>
        </p:spPr>
        <p:txBody>
          <a:bodyPr/>
          <a:lstStyle/>
          <a:p>
            <a:endParaRPr lang="en-US"/>
          </a:p>
        </p:txBody>
      </p:sp>
      <p:sp>
        <p:nvSpPr>
          <p:cNvPr id="33" name="Text 31"/>
          <p:cNvSpPr/>
          <p:nvPr/>
        </p:nvSpPr>
        <p:spPr>
          <a:xfrm>
            <a:off x="8595360" y="4754880"/>
            <a:ext cx="3154680" cy="274320"/>
          </a:xfrm>
          <a:prstGeom prst="rect">
            <a:avLst/>
          </a:prstGeom>
          <a:noFill/>
          <a:ln/>
        </p:spPr>
        <p:txBody>
          <a:bodyPr wrap="square" lIns="0" tIns="0" rIns="0" bIns="0" rtlCol="0" anchor="ctr"/>
          <a:lstStyle/>
          <a:p>
            <a:pPr marL="0" indent="0">
              <a:buNone/>
            </a:pPr>
            <a:r>
              <a:rPr lang="en-US" sz="1000" b="1" kern="0" spc="500" dirty="0">
                <a:solidFill>
                  <a:srgbClr val="FFFFFF"/>
                </a:solidFill>
                <a:latin typeface="Calibri" pitchFamily="34" charset="0"/>
                <a:ea typeface="Calibri" pitchFamily="34" charset="-122"/>
                <a:cs typeface="Calibri" pitchFamily="34" charset="-120"/>
              </a:rPr>
              <a:t>WHY THIS MATTERS</a:t>
            </a:r>
            <a:endParaRPr lang="en-US" sz="1000" dirty="0"/>
          </a:p>
        </p:txBody>
      </p:sp>
      <p:sp>
        <p:nvSpPr>
          <p:cNvPr id="34" name="Text 32"/>
          <p:cNvSpPr/>
          <p:nvPr/>
        </p:nvSpPr>
        <p:spPr>
          <a:xfrm>
            <a:off x="8595360" y="5120640"/>
            <a:ext cx="3154680" cy="1097280"/>
          </a:xfrm>
          <a:prstGeom prst="rect">
            <a:avLst/>
          </a:prstGeom>
          <a:noFill/>
          <a:ln/>
        </p:spPr>
        <p:txBody>
          <a:bodyPr wrap="square" lIns="0" tIns="0" rIns="0" bIns="0" rtlCol="0" anchor="t"/>
          <a:lstStyle/>
          <a:p>
            <a:pPr marL="0" indent="0">
              <a:buNone/>
            </a:pPr>
            <a:r>
              <a:rPr lang="en-US" sz="1400" b="1" i="1" dirty="0">
                <a:solidFill>
                  <a:srgbClr val="FFFFFF"/>
                </a:solidFill>
                <a:latin typeface="Calibri" pitchFamily="34" charset="0"/>
                <a:ea typeface="Calibri" pitchFamily="34" charset="-122"/>
                <a:cs typeface="Calibri" pitchFamily="34" charset="-120"/>
              </a:rPr>
              <a:t>Brand perception and conversion are now moving in our favour — on the surface where buyers research.</a:t>
            </a:r>
            <a:endParaRPr lang="en-US" sz="1400" dirty="0"/>
          </a:p>
        </p:txBody>
      </p:sp>
      <p:sp>
        <p:nvSpPr>
          <p:cNvPr id="35" name="Text 33"/>
          <p:cNvSpPr/>
          <p:nvPr/>
        </p:nvSpPr>
        <p:spPr>
          <a:xfrm>
            <a:off x="457200" y="6446520"/>
            <a:ext cx="11247120" cy="365760"/>
          </a:xfrm>
          <a:prstGeom prst="rect">
            <a:avLst/>
          </a:prstGeom>
          <a:noFill/>
          <a:ln/>
        </p:spPr>
        <p:txBody>
          <a:bodyPr wrap="square" lIns="0" tIns="0" rIns="0" bIns="0" rtlCol="0" anchor="ctr"/>
          <a:lstStyle/>
          <a:p>
            <a:pPr marL="0" indent="0">
              <a:buNone/>
            </a:pPr>
            <a:r>
              <a:rPr lang="en-US" sz="1100" b="1" dirty="0">
                <a:solidFill>
                  <a:srgbClr val="E85D3C"/>
                </a:solidFill>
                <a:latin typeface="Calibri" pitchFamily="34" charset="0"/>
                <a:ea typeface="Calibri" pitchFamily="34" charset="-122"/>
                <a:cs typeface="Calibri" pitchFamily="34" charset="-120"/>
              </a:rPr>
              <a:t>Sources:  </a:t>
            </a:r>
            <a:r>
              <a:rPr lang="en-US" sz="1100" i="1" dirty="0">
                <a:solidFill>
                  <a:srgbClr val="64748B"/>
                </a:solidFill>
                <a:latin typeface="Calibri" pitchFamily="34" charset="0"/>
                <a:ea typeface="Calibri" pitchFamily="34" charset="-122"/>
                <a:cs typeface="Calibri" pitchFamily="34" charset="-120"/>
              </a:rPr>
              <a:t>ChatGPT shared sessions referenced in companion email (cost-sheet query + narrative-shift query).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4" name="Text 2"/>
          <p:cNvSpPr/>
          <p:nvPr/>
        </p:nvSpPr>
        <p:spPr>
          <a:xfrm>
            <a:off x="457200" y="640080"/>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LEAD CAPTURE STRATEGY</a:t>
            </a:r>
            <a:endParaRPr lang="en-US" sz="1100" dirty="0"/>
          </a:p>
        </p:txBody>
      </p:sp>
      <p:sp>
        <p:nvSpPr>
          <p:cNvPr id="5" name="Text 3"/>
          <p:cNvSpPr/>
          <p:nvPr/>
        </p:nvSpPr>
        <p:spPr>
          <a:xfrm>
            <a:off x="457200" y="960120"/>
            <a:ext cx="11247120" cy="777240"/>
          </a:xfrm>
          <a:prstGeom prst="rect">
            <a:avLst/>
          </a:prstGeom>
          <a:noFill/>
          <a:ln/>
        </p:spPr>
        <p:txBody>
          <a:bodyPr wrap="square" lIns="0" tIns="0" rIns="0" bIns="0" rtlCol="0" anchor="ctr"/>
          <a:lstStyle/>
          <a:p>
            <a:pPr marL="0" indent="0">
              <a:buNone/>
            </a:pPr>
            <a:r>
              <a:rPr lang="en-US" sz="2800" b="1" dirty="0">
                <a:solidFill>
                  <a:srgbClr val="0F1F3F"/>
                </a:solidFill>
                <a:latin typeface="Calibri" pitchFamily="34" charset="0"/>
                <a:ea typeface="Calibri" pitchFamily="34" charset="-122"/>
                <a:cs typeface="Calibri" pitchFamily="34" charset="-120"/>
              </a:rPr>
              <a:t>On the contact number ask — what works, and what doesn't</a:t>
            </a:r>
            <a:endParaRPr lang="en-US" sz="2800" dirty="0"/>
          </a:p>
        </p:txBody>
      </p:sp>
      <p:sp>
        <p:nvSpPr>
          <p:cNvPr id="6" name="Text 4"/>
          <p:cNvSpPr/>
          <p:nvPr/>
        </p:nvSpPr>
        <p:spPr>
          <a:xfrm>
            <a:off x="457200" y="1828800"/>
            <a:ext cx="11247120" cy="5486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Direct ask raised: "Can the LLM include 'for more details, contact X' in its responses?" Honest answer: LLMs are trained to strip promotional CTAs. We can't force it — but we can tilt the odds.</a:t>
            </a:r>
            <a:endParaRPr lang="en-US" sz="1300" dirty="0"/>
          </a:p>
        </p:txBody>
      </p:sp>
      <p:sp>
        <p:nvSpPr>
          <p:cNvPr id="7" name="Shape 5"/>
          <p:cNvSpPr/>
          <p:nvPr/>
        </p:nvSpPr>
        <p:spPr>
          <a:xfrm>
            <a:off x="457200" y="2606040"/>
            <a:ext cx="5532120" cy="1554480"/>
          </a:xfrm>
          <a:prstGeom prst="rect">
            <a:avLst/>
          </a:prstGeom>
          <a:solidFill>
            <a:srgbClr val="FEF2F2"/>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8" name="Shape 6"/>
          <p:cNvSpPr/>
          <p:nvPr/>
        </p:nvSpPr>
        <p:spPr>
          <a:xfrm>
            <a:off x="457200" y="2606040"/>
            <a:ext cx="5532120" cy="411480"/>
          </a:xfrm>
          <a:prstGeom prst="rect">
            <a:avLst/>
          </a:prstGeom>
          <a:solidFill>
            <a:srgbClr val="DC2626"/>
          </a:solidFill>
          <a:ln/>
        </p:spPr>
        <p:txBody>
          <a:bodyPr/>
          <a:lstStyle/>
          <a:p>
            <a:endParaRPr lang="en-US"/>
          </a:p>
        </p:txBody>
      </p:sp>
      <p:sp>
        <p:nvSpPr>
          <p:cNvPr id="9" name="Text 7"/>
          <p:cNvSpPr/>
          <p:nvPr/>
        </p:nvSpPr>
        <p:spPr>
          <a:xfrm>
            <a:off x="640080" y="2606040"/>
            <a:ext cx="5166360" cy="41148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  WON'T WORK</a:t>
            </a:r>
            <a:endParaRPr lang="en-US" sz="1200" dirty="0"/>
          </a:p>
        </p:txBody>
      </p:sp>
      <p:sp>
        <p:nvSpPr>
          <p:cNvPr id="10" name="Text 8"/>
          <p:cNvSpPr/>
          <p:nvPr/>
        </p:nvSpPr>
        <p:spPr>
          <a:xfrm>
            <a:off x="685800" y="3154680"/>
            <a:ext cx="5074920" cy="457200"/>
          </a:xfrm>
          <a:prstGeom prst="rect">
            <a:avLst/>
          </a:prstGeom>
          <a:noFill/>
          <a:ln/>
        </p:spPr>
        <p:txBody>
          <a:bodyPr wrap="square" lIns="0" tIns="0" rIns="0" bIns="0" rtlCol="0" anchor="ctr"/>
          <a:lstStyle/>
          <a:p>
            <a:pPr marL="0" indent="0">
              <a:buNone/>
            </a:pPr>
            <a:r>
              <a:rPr lang="en-US" sz="1400" b="1" dirty="0">
                <a:solidFill>
                  <a:srgbClr val="0F1F3F"/>
                </a:solidFill>
                <a:latin typeface="Calibri" pitchFamily="34" charset="0"/>
                <a:ea typeface="Calibri" pitchFamily="34" charset="-122"/>
                <a:cs typeface="Calibri" pitchFamily="34" charset="-120"/>
              </a:rPr>
              <a:t>"Contact us for details" banners and promotional CTAs</a:t>
            </a:r>
            <a:endParaRPr lang="en-US" sz="1400" dirty="0"/>
          </a:p>
        </p:txBody>
      </p:sp>
      <p:sp>
        <p:nvSpPr>
          <p:cNvPr id="11" name="Text 9"/>
          <p:cNvSpPr/>
          <p:nvPr/>
        </p:nvSpPr>
        <p:spPr>
          <a:xfrm>
            <a:off x="685800" y="3566160"/>
            <a:ext cx="507492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LLMs are trained to recognise marketing CTAs as noise relative to the user's actual question — and strip them from the answer.</a:t>
            </a:r>
            <a:endParaRPr lang="en-US" sz="1100" dirty="0"/>
          </a:p>
        </p:txBody>
      </p:sp>
      <p:sp>
        <p:nvSpPr>
          <p:cNvPr id="12" name="Shape 10"/>
          <p:cNvSpPr/>
          <p:nvPr/>
        </p:nvSpPr>
        <p:spPr>
          <a:xfrm>
            <a:off x="6172200" y="2606040"/>
            <a:ext cx="5532120" cy="1554480"/>
          </a:xfrm>
          <a:prstGeom prst="rect">
            <a:avLst/>
          </a:prstGeom>
          <a:solidFill>
            <a:srgbClr val="F0FDF4"/>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3" name="Shape 11"/>
          <p:cNvSpPr/>
          <p:nvPr/>
        </p:nvSpPr>
        <p:spPr>
          <a:xfrm>
            <a:off x="6172200" y="2606040"/>
            <a:ext cx="5532120" cy="411480"/>
          </a:xfrm>
          <a:prstGeom prst="rect">
            <a:avLst/>
          </a:prstGeom>
          <a:solidFill>
            <a:srgbClr val="059669"/>
          </a:solidFill>
          <a:ln/>
        </p:spPr>
        <p:txBody>
          <a:bodyPr/>
          <a:lstStyle/>
          <a:p>
            <a:endParaRPr lang="en-US"/>
          </a:p>
        </p:txBody>
      </p:sp>
      <p:sp>
        <p:nvSpPr>
          <p:cNvPr id="14" name="Text 12"/>
          <p:cNvSpPr/>
          <p:nvPr/>
        </p:nvSpPr>
        <p:spPr>
          <a:xfrm>
            <a:off x="6355080" y="2606040"/>
            <a:ext cx="5166360" cy="41148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  WHAT WORKS</a:t>
            </a:r>
            <a:endParaRPr lang="en-US" sz="1200" dirty="0"/>
          </a:p>
        </p:txBody>
      </p:sp>
      <p:sp>
        <p:nvSpPr>
          <p:cNvPr id="15" name="Text 13"/>
          <p:cNvSpPr/>
          <p:nvPr/>
        </p:nvSpPr>
        <p:spPr>
          <a:xfrm>
            <a:off x="6400800" y="3154680"/>
            <a:ext cx="5074920" cy="457200"/>
          </a:xfrm>
          <a:prstGeom prst="rect">
            <a:avLst/>
          </a:prstGeom>
          <a:noFill/>
          <a:ln/>
        </p:spPr>
        <p:txBody>
          <a:bodyPr wrap="square" lIns="0" tIns="0" rIns="0" bIns="0" rtlCol="0" anchor="ctr"/>
          <a:lstStyle/>
          <a:p>
            <a:pPr marL="0" indent="0">
              <a:buNone/>
            </a:pPr>
            <a:r>
              <a:rPr lang="en-US" sz="1400" b="1" dirty="0">
                <a:solidFill>
                  <a:srgbClr val="0F1F3F"/>
                </a:solidFill>
                <a:latin typeface="Calibri" pitchFamily="34" charset="0"/>
                <a:ea typeface="Calibri" pitchFamily="34" charset="-122"/>
                <a:cs typeface="Calibri" pitchFamily="34" charset="-120"/>
              </a:rPr>
              <a:t>Weave contact details into factual content</a:t>
            </a:r>
            <a:endParaRPr lang="en-US" sz="1400" dirty="0"/>
          </a:p>
        </p:txBody>
      </p:sp>
      <p:sp>
        <p:nvSpPr>
          <p:cNvPr id="16" name="Text 14"/>
          <p:cNvSpPr/>
          <p:nvPr/>
        </p:nvSpPr>
        <p:spPr>
          <a:xfrm>
            <a:off x="6400800" y="3566160"/>
            <a:ext cx="507492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Phrased as where the user gets specific information — not as a sales pitch. LLMs retain factual lines because they're presented as content, not advertising.</a:t>
            </a:r>
            <a:endParaRPr lang="en-US" sz="1100" dirty="0"/>
          </a:p>
        </p:txBody>
      </p:sp>
      <p:sp>
        <p:nvSpPr>
          <p:cNvPr id="17" name="Text 15"/>
          <p:cNvSpPr/>
          <p:nvPr/>
        </p:nvSpPr>
        <p:spPr>
          <a:xfrm>
            <a:off x="457200" y="4343400"/>
            <a:ext cx="10972800" cy="274320"/>
          </a:xfrm>
          <a:prstGeom prst="rect">
            <a:avLst/>
          </a:prstGeom>
          <a:noFill/>
          <a:ln/>
        </p:spPr>
        <p:txBody>
          <a:bodyPr wrap="square" lIns="0" tIns="0" rIns="0" bIns="0" rtlCol="0" anchor="ctr"/>
          <a:lstStyle/>
          <a:p>
            <a:pPr marL="0" indent="0">
              <a:buNone/>
            </a:pPr>
            <a:r>
              <a:rPr lang="en-US" sz="1000" b="1" kern="0" spc="500" dirty="0">
                <a:solidFill>
                  <a:srgbClr val="E85D3C"/>
                </a:solidFill>
                <a:latin typeface="Calibri" pitchFamily="34" charset="0"/>
                <a:ea typeface="Calibri" pitchFamily="34" charset="-122"/>
                <a:cs typeface="Calibri" pitchFamily="34" charset="-120"/>
              </a:rPr>
              <a:t>THREE PLACEMENT EXAMPLES — TO BE WOVEN INTO PAGE COPY</a:t>
            </a:r>
            <a:endParaRPr lang="en-US" sz="1000" dirty="0"/>
          </a:p>
        </p:txBody>
      </p:sp>
      <p:sp>
        <p:nvSpPr>
          <p:cNvPr id="18" name="Shape 16"/>
          <p:cNvSpPr/>
          <p:nvPr/>
        </p:nvSpPr>
        <p:spPr>
          <a:xfrm>
            <a:off x="457200" y="4663440"/>
            <a:ext cx="3703320" cy="14173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7"/>
          <p:cNvSpPr/>
          <p:nvPr/>
        </p:nvSpPr>
        <p:spPr>
          <a:xfrm>
            <a:off x="457200" y="4663440"/>
            <a:ext cx="73152" cy="1417320"/>
          </a:xfrm>
          <a:prstGeom prst="rect">
            <a:avLst/>
          </a:prstGeom>
          <a:solidFill>
            <a:srgbClr val="E85D3C"/>
          </a:solidFill>
          <a:ln/>
        </p:spPr>
        <p:txBody>
          <a:bodyPr/>
          <a:lstStyle/>
          <a:p>
            <a:endParaRPr lang="en-US"/>
          </a:p>
        </p:txBody>
      </p:sp>
      <p:sp>
        <p:nvSpPr>
          <p:cNvPr id="20" name="Text 18"/>
          <p:cNvSpPr/>
          <p:nvPr/>
        </p:nvSpPr>
        <p:spPr>
          <a:xfrm>
            <a:off x="731520" y="4846320"/>
            <a:ext cx="3337560" cy="274320"/>
          </a:xfrm>
          <a:prstGeom prst="rect">
            <a:avLst/>
          </a:prstGeom>
          <a:noFill/>
          <a:ln/>
        </p:spPr>
        <p:txBody>
          <a:bodyPr wrap="square" lIns="0" tIns="0" rIns="0" bIns="0" rtlCol="0" anchor="ctr"/>
          <a:lstStyle/>
          <a:p>
            <a:pPr marL="0" indent="0">
              <a:buNone/>
            </a:pPr>
            <a:r>
              <a:rPr lang="en-US" sz="900" b="1" kern="0" spc="400" dirty="0">
                <a:solidFill>
                  <a:srgbClr val="E85D3C"/>
                </a:solidFill>
                <a:latin typeface="Calibri" pitchFamily="34" charset="0"/>
                <a:ea typeface="Calibri" pitchFamily="34" charset="-122"/>
                <a:cs typeface="Calibri" pitchFamily="34" charset="-120"/>
              </a:rPr>
              <a:t>OVERVIEW SECTION</a:t>
            </a:r>
            <a:endParaRPr lang="en-US" sz="900" dirty="0"/>
          </a:p>
        </p:txBody>
      </p:sp>
      <p:sp>
        <p:nvSpPr>
          <p:cNvPr id="21" name="Text 19"/>
          <p:cNvSpPr/>
          <p:nvPr/>
        </p:nvSpPr>
        <p:spPr>
          <a:xfrm>
            <a:off x="731520" y="5120640"/>
            <a:ext cx="3337560" cy="914400"/>
          </a:xfrm>
          <a:prstGeom prst="rect">
            <a:avLst/>
          </a:prstGeom>
          <a:noFill/>
          <a:ln/>
        </p:spPr>
        <p:txBody>
          <a:bodyPr wrap="square" lIns="0" tIns="0" rIns="0" bIns="0" rtlCol="0" anchor="t"/>
          <a:lstStyle/>
          <a:p>
            <a:pPr marL="0" indent="0">
              <a:buNone/>
            </a:pPr>
            <a:r>
              <a:rPr lang="en-US" sz="1200" i="1" dirty="0">
                <a:solidFill>
                  <a:srgbClr val="1E293B"/>
                </a:solidFill>
                <a:latin typeface="Calibri" pitchFamily="34" charset="0"/>
                <a:ea typeface="Calibri" pitchFamily="34" charset="-122"/>
                <a:cs typeface="Calibri" pitchFamily="34" charset="-120"/>
              </a:rPr>
              <a:t>"Eligibility, unit availability and current offers are confirmed by the Godrej Parkshire sales team at [number]."</a:t>
            </a:r>
            <a:endParaRPr lang="en-US" sz="1200" dirty="0"/>
          </a:p>
        </p:txBody>
      </p:sp>
      <p:sp>
        <p:nvSpPr>
          <p:cNvPr id="22" name="Shape 20"/>
          <p:cNvSpPr/>
          <p:nvPr/>
        </p:nvSpPr>
        <p:spPr>
          <a:xfrm>
            <a:off x="4343400" y="4663440"/>
            <a:ext cx="3703320" cy="14173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3" name="Shape 21"/>
          <p:cNvSpPr/>
          <p:nvPr/>
        </p:nvSpPr>
        <p:spPr>
          <a:xfrm>
            <a:off x="4343400" y="4663440"/>
            <a:ext cx="73152" cy="1417320"/>
          </a:xfrm>
          <a:prstGeom prst="rect">
            <a:avLst/>
          </a:prstGeom>
          <a:solidFill>
            <a:srgbClr val="E85D3C"/>
          </a:solidFill>
          <a:ln/>
        </p:spPr>
        <p:txBody>
          <a:bodyPr/>
          <a:lstStyle/>
          <a:p>
            <a:endParaRPr lang="en-US"/>
          </a:p>
        </p:txBody>
      </p:sp>
      <p:sp>
        <p:nvSpPr>
          <p:cNvPr id="24" name="Text 22"/>
          <p:cNvSpPr/>
          <p:nvPr/>
        </p:nvSpPr>
        <p:spPr>
          <a:xfrm>
            <a:off x="4617720" y="4846320"/>
            <a:ext cx="3337560" cy="274320"/>
          </a:xfrm>
          <a:prstGeom prst="rect">
            <a:avLst/>
          </a:prstGeom>
          <a:noFill/>
          <a:ln/>
        </p:spPr>
        <p:txBody>
          <a:bodyPr wrap="square" lIns="0" tIns="0" rIns="0" bIns="0" rtlCol="0" anchor="ctr"/>
          <a:lstStyle/>
          <a:p>
            <a:pPr marL="0" indent="0">
              <a:buNone/>
            </a:pPr>
            <a:r>
              <a:rPr lang="en-US" sz="900" b="1" kern="0" spc="400" dirty="0">
                <a:solidFill>
                  <a:srgbClr val="E85D3C"/>
                </a:solidFill>
                <a:latin typeface="Calibri" pitchFamily="34" charset="0"/>
                <a:ea typeface="Calibri" pitchFamily="34" charset="-122"/>
                <a:cs typeface="Calibri" pitchFamily="34" charset="-120"/>
              </a:rPr>
              <a:t>PRICING SECTION</a:t>
            </a:r>
            <a:endParaRPr lang="en-US" sz="900" dirty="0"/>
          </a:p>
        </p:txBody>
      </p:sp>
      <p:sp>
        <p:nvSpPr>
          <p:cNvPr id="25" name="Text 23"/>
          <p:cNvSpPr/>
          <p:nvPr/>
        </p:nvSpPr>
        <p:spPr>
          <a:xfrm>
            <a:off x="4617720" y="5120640"/>
            <a:ext cx="3337560" cy="914400"/>
          </a:xfrm>
          <a:prstGeom prst="rect">
            <a:avLst/>
          </a:prstGeom>
          <a:noFill/>
          <a:ln/>
        </p:spPr>
        <p:txBody>
          <a:bodyPr wrap="square" lIns="0" tIns="0" rIns="0" bIns="0" rtlCol="0" anchor="t"/>
          <a:lstStyle/>
          <a:p>
            <a:pPr marL="0" indent="0">
              <a:buNone/>
            </a:pPr>
            <a:r>
              <a:rPr lang="en-US" sz="1200" i="1" dirty="0">
                <a:solidFill>
                  <a:srgbClr val="1E293B"/>
                </a:solidFill>
                <a:latin typeface="Calibri" pitchFamily="34" charset="0"/>
                <a:ea typeface="Calibri" pitchFamily="34" charset="-122"/>
                <a:cs typeface="Calibri" pitchFamily="34" charset="-120"/>
              </a:rPr>
              <a:t>"Final pricing including GST and applicable charges is available from the Godrej Parkshire sales team at [number]."</a:t>
            </a:r>
            <a:endParaRPr lang="en-US" sz="1200" dirty="0"/>
          </a:p>
        </p:txBody>
      </p:sp>
      <p:sp>
        <p:nvSpPr>
          <p:cNvPr id="26" name="Shape 24"/>
          <p:cNvSpPr/>
          <p:nvPr/>
        </p:nvSpPr>
        <p:spPr>
          <a:xfrm>
            <a:off x="8229600" y="4663440"/>
            <a:ext cx="3703320" cy="14173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7" name="Shape 25"/>
          <p:cNvSpPr/>
          <p:nvPr/>
        </p:nvSpPr>
        <p:spPr>
          <a:xfrm>
            <a:off x="8229600" y="4663440"/>
            <a:ext cx="73152" cy="1417320"/>
          </a:xfrm>
          <a:prstGeom prst="rect">
            <a:avLst/>
          </a:prstGeom>
          <a:solidFill>
            <a:srgbClr val="E85D3C"/>
          </a:solidFill>
          <a:ln/>
        </p:spPr>
        <p:txBody>
          <a:bodyPr/>
          <a:lstStyle/>
          <a:p>
            <a:endParaRPr lang="en-US"/>
          </a:p>
        </p:txBody>
      </p:sp>
      <p:sp>
        <p:nvSpPr>
          <p:cNvPr id="28" name="Text 26"/>
          <p:cNvSpPr/>
          <p:nvPr/>
        </p:nvSpPr>
        <p:spPr>
          <a:xfrm>
            <a:off x="8503920" y="4846320"/>
            <a:ext cx="3337560" cy="274320"/>
          </a:xfrm>
          <a:prstGeom prst="rect">
            <a:avLst/>
          </a:prstGeom>
          <a:noFill/>
          <a:ln/>
        </p:spPr>
        <p:txBody>
          <a:bodyPr wrap="square" lIns="0" tIns="0" rIns="0" bIns="0" rtlCol="0" anchor="ctr"/>
          <a:lstStyle/>
          <a:p>
            <a:pPr marL="0" indent="0">
              <a:buNone/>
            </a:pPr>
            <a:r>
              <a:rPr lang="en-US" sz="900" b="1" kern="0" spc="400" dirty="0">
                <a:solidFill>
                  <a:srgbClr val="E85D3C"/>
                </a:solidFill>
                <a:latin typeface="Calibri" pitchFamily="34" charset="0"/>
                <a:ea typeface="Calibri" pitchFamily="34" charset="-122"/>
                <a:cs typeface="Calibri" pitchFamily="34" charset="-120"/>
              </a:rPr>
              <a:t>VISIT / SCHEDULING SECTION</a:t>
            </a:r>
            <a:endParaRPr lang="en-US" sz="900" dirty="0"/>
          </a:p>
        </p:txBody>
      </p:sp>
      <p:sp>
        <p:nvSpPr>
          <p:cNvPr id="29" name="Text 27"/>
          <p:cNvSpPr/>
          <p:nvPr/>
        </p:nvSpPr>
        <p:spPr>
          <a:xfrm>
            <a:off x="8503920" y="5120640"/>
            <a:ext cx="3337560" cy="914400"/>
          </a:xfrm>
          <a:prstGeom prst="rect">
            <a:avLst/>
          </a:prstGeom>
          <a:noFill/>
          <a:ln/>
        </p:spPr>
        <p:txBody>
          <a:bodyPr wrap="square" lIns="0" tIns="0" rIns="0" bIns="0" rtlCol="0" anchor="t"/>
          <a:lstStyle/>
          <a:p>
            <a:pPr marL="0" indent="0">
              <a:buNone/>
            </a:pPr>
            <a:r>
              <a:rPr lang="en-US" sz="1200" i="1" dirty="0">
                <a:solidFill>
                  <a:srgbClr val="1E293B"/>
                </a:solidFill>
                <a:latin typeface="Calibri" pitchFamily="34" charset="0"/>
                <a:ea typeface="Calibri" pitchFamily="34" charset="-122"/>
                <a:cs typeface="Calibri" pitchFamily="34" charset="-120"/>
              </a:rPr>
              <a:t>"Site visit slots can be scheduled by calling the Parkshire sales office at [number]."</a:t>
            </a:r>
            <a:endParaRPr lang="en-US" sz="1200" dirty="0"/>
          </a:p>
        </p:txBody>
      </p:sp>
      <p:sp>
        <p:nvSpPr>
          <p:cNvPr id="30" name="Shape 28"/>
          <p:cNvSpPr/>
          <p:nvPr/>
        </p:nvSpPr>
        <p:spPr>
          <a:xfrm>
            <a:off x="457200" y="6263640"/>
            <a:ext cx="11247120" cy="411480"/>
          </a:xfrm>
          <a:prstGeom prst="rect">
            <a:avLst/>
          </a:prstGeom>
          <a:solidFill>
            <a:srgbClr val="0F1F3F"/>
          </a:solidFill>
          <a:ln/>
        </p:spPr>
        <p:txBody>
          <a:bodyPr/>
          <a:lstStyle/>
          <a:p>
            <a:endParaRPr lang="en-US"/>
          </a:p>
        </p:txBody>
      </p:sp>
      <p:sp>
        <p:nvSpPr>
          <p:cNvPr id="31" name="Text 29"/>
          <p:cNvSpPr/>
          <p:nvPr/>
        </p:nvSpPr>
        <p:spPr>
          <a:xfrm>
            <a:off x="640080" y="6263640"/>
            <a:ext cx="10972800" cy="411480"/>
          </a:xfrm>
          <a:prstGeom prst="rect">
            <a:avLst/>
          </a:prstGeom>
          <a:noFill/>
          <a:ln/>
        </p:spPr>
        <p:txBody>
          <a:bodyPr wrap="square" lIns="0" tIns="0" rIns="0" bIns="0" rtlCol="0" anchor="ctr"/>
          <a:lstStyle/>
          <a:p>
            <a:pPr marL="0" indent="0">
              <a:buNone/>
            </a:pPr>
            <a:r>
              <a:rPr lang="en-US" sz="1150" b="1" kern="0" spc="400" dirty="0">
                <a:solidFill>
                  <a:srgbClr val="E85D3C"/>
                </a:solidFill>
                <a:latin typeface="Calibri" pitchFamily="34" charset="0"/>
                <a:ea typeface="Calibri" pitchFamily="34" charset="-122"/>
                <a:cs typeface="Calibri" pitchFamily="34" charset="-120"/>
              </a:rPr>
              <a:t>PRIMARY CONVERSION LEVER  </a:t>
            </a:r>
            <a:r>
              <a:rPr lang="en-US" sz="1150" dirty="0">
                <a:solidFill>
                  <a:srgbClr val="FFFFFF"/>
                </a:solidFill>
                <a:latin typeface="Calibri" pitchFamily="34" charset="0"/>
                <a:ea typeface="Calibri" pitchFamily="34" charset="-122"/>
                <a:cs typeface="Calibri" pitchFamily="34" charset="-120"/>
              </a:rPr>
              <a:t>Lead-gen form on the page itself — already live, capturing intent at peak attention (5s into reading).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28600"/>
            <a:ext cx="4572000" cy="274320"/>
          </a:xfrm>
          <a:prstGeom prst="rect">
            <a:avLst/>
          </a:prstGeom>
          <a:noFill/>
          <a:ln/>
        </p:spPr>
        <p:txBody>
          <a:bodyPr wrap="square" lIns="0" tIns="0" rIns="0" bIns="0" rtlCol="0" anchor="ctr"/>
          <a:lstStyle/>
          <a:p>
            <a:pPr marL="0" indent="0">
              <a:buNone/>
            </a:pPr>
            <a:r>
              <a:rPr lang="en-US" sz="900" b="1" kern="0" spc="400" dirty="0">
                <a:solidFill>
                  <a:srgbClr val="64748B"/>
                </a:solidFill>
                <a:latin typeface="Calibri" pitchFamily="34" charset="0"/>
                <a:ea typeface="Calibri" pitchFamily="34" charset="-122"/>
                <a:cs typeface="Calibri" pitchFamily="34" charset="-120"/>
              </a:rPr>
              <a:t>GEO  /  Godrej Properties</a:t>
            </a:r>
            <a:endParaRPr lang="en-US" sz="900" dirty="0"/>
          </a:p>
        </p:txBody>
      </p:sp>
      <p:sp>
        <p:nvSpPr>
          <p:cNvPr id="3" name="Text 1"/>
          <p:cNvSpPr/>
          <p:nvPr/>
        </p:nvSpPr>
        <p:spPr>
          <a:xfrm>
            <a:off x="457200" y="530352"/>
            <a:ext cx="10972800" cy="292608"/>
          </a:xfrm>
          <a:prstGeom prst="rect">
            <a:avLst/>
          </a:prstGeom>
          <a:noFill/>
          <a:ln/>
        </p:spPr>
        <p:txBody>
          <a:bodyPr wrap="square" lIns="0" tIns="0" rIns="0" bIns="0" rtlCol="0" anchor="ctr"/>
          <a:lstStyle/>
          <a:p>
            <a:pPr marL="0" indent="0">
              <a:buNone/>
            </a:pPr>
            <a:r>
              <a:rPr lang="en-US" sz="1100" b="1" kern="0" spc="600" dirty="0">
                <a:solidFill>
                  <a:srgbClr val="E85D3C"/>
                </a:solidFill>
                <a:latin typeface="Calibri" pitchFamily="34" charset="0"/>
                <a:ea typeface="Calibri" pitchFamily="34" charset="-122"/>
                <a:cs typeface="Calibri" pitchFamily="34" charset="-120"/>
              </a:rPr>
              <a:t>PR ACTIVATION</a:t>
            </a:r>
            <a:endParaRPr lang="en-US" sz="1100" dirty="0"/>
          </a:p>
        </p:txBody>
      </p:sp>
      <p:sp>
        <p:nvSpPr>
          <p:cNvPr id="4" name="Text 2"/>
          <p:cNvSpPr/>
          <p:nvPr/>
        </p:nvSpPr>
        <p:spPr>
          <a:xfrm>
            <a:off x="365760" y="741099"/>
            <a:ext cx="11247120" cy="594360"/>
          </a:xfrm>
          <a:prstGeom prst="rect">
            <a:avLst/>
          </a:prstGeom>
          <a:noFill/>
          <a:ln/>
        </p:spPr>
        <p:txBody>
          <a:bodyPr wrap="square" lIns="0" tIns="0" rIns="0" bIns="0" rtlCol="0" anchor="ctr"/>
          <a:lstStyle/>
          <a:p>
            <a:pPr marL="0" indent="0">
              <a:buNone/>
            </a:pPr>
            <a:r>
              <a:rPr lang="en-US" sz="2600" b="1" dirty="0">
                <a:solidFill>
                  <a:srgbClr val="0F1F3F"/>
                </a:solidFill>
                <a:latin typeface="Calibri" pitchFamily="34" charset="0"/>
                <a:ea typeface="Calibri" pitchFamily="34" charset="-122"/>
                <a:cs typeface="Calibri" pitchFamily="34" charset="-120"/>
              </a:rPr>
              <a:t>Six questions designed to trigger citation of our page</a:t>
            </a:r>
            <a:endParaRPr lang="en-US" sz="2600" dirty="0"/>
          </a:p>
        </p:txBody>
      </p:sp>
      <p:sp>
        <p:nvSpPr>
          <p:cNvPr id="5" name="Text 3"/>
          <p:cNvSpPr/>
          <p:nvPr/>
        </p:nvSpPr>
        <p:spPr>
          <a:xfrm>
            <a:off x="365760" y="1381179"/>
            <a:ext cx="11247120" cy="59436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Each question is anchored to data points that exist only on our official page — specific figures, RERA details, and payment schedules that no broker site carries accurately. When published as PR or seeded into buyer forums, these queries will force LLMs to cite our page as the authoritative source.</a:t>
            </a:r>
            <a:endParaRPr lang="en-US" sz="1250" dirty="0"/>
          </a:p>
        </p:txBody>
      </p:sp>
      <p:sp>
        <p:nvSpPr>
          <p:cNvPr id="6" name="Shape 4"/>
          <p:cNvSpPr/>
          <p:nvPr/>
        </p:nvSpPr>
        <p:spPr>
          <a:xfrm>
            <a:off x="365760" y="2112699"/>
            <a:ext cx="3703320" cy="21031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5"/>
          <p:cNvSpPr/>
          <p:nvPr/>
        </p:nvSpPr>
        <p:spPr>
          <a:xfrm>
            <a:off x="365760" y="2112699"/>
            <a:ext cx="3703320" cy="73152"/>
          </a:xfrm>
          <a:prstGeom prst="rect">
            <a:avLst/>
          </a:prstGeom>
          <a:solidFill>
            <a:srgbClr val="E85D3C"/>
          </a:solidFill>
          <a:ln/>
        </p:spPr>
        <p:txBody>
          <a:bodyPr/>
          <a:lstStyle/>
          <a:p>
            <a:endParaRPr lang="en-US"/>
          </a:p>
        </p:txBody>
      </p:sp>
      <p:sp>
        <p:nvSpPr>
          <p:cNvPr id="8" name="Text 6"/>
          <p:cNvSpPr/>
          <p:nvPr/>
        </p:nvSpPr>
        <p:spPr>
          <a:xfrm>
            <a:off x="594360" y="2295579"/>
            <a:ext cx="457200" cy="320040"/>
          </a:xfrm>
          <a:prstGeom prst="rect">
            <a:avLst/>
          </a:prstGeom>
          <a:noFill/>
          <a:ln/>
        </p:spPr>
        <p:txBody>
          <a:bodyPr wrap="square" lIns="0" tIns="0" rIns="0" bIns="0" rtlCol="0" anchor="ctr"/>
          <a:lstStyle/>
          <a:p>
            <a:pPr marL="0" indent="0">
              <a:buNone/>
            </a:pPr>
            <a:r>
              <a:rPr lang="en-US" sz="1400" b="1" dirty="0">
                <a:solidFill>
                  <a:srgbClr val="E85D3C"/>
                </a:solidFill>
                <a:latin typeface="Calibri" pitchFamily="34" charset="0"/>
                <a:ea typeface="Calibri" pitchFamily="34" charset="-122"/>
                <a:cs typeface="Calibri" pitchFamily="34" charset="-120"/>
              </a:rPr>
              <a:t>Q1</a:t>
            </a:r>
            <a:endParaRPr lang="en-US" sz="1400" dirty="0"/>
          </a:p>
        </p:txBody>
      </p:sp>
      <p:sp>
        <p:nvSpPr>
          <p:cNvPr id="9" name="Text 7"/>
          <p:cNvSpPr/>
          <p:nvPr/>
        </p:nvSpPr>
        <p:spPr>
          <a:xfrm>
            <a:off x="1005840" y="2313867"/>
            <a:ext cx="2788920" cy="274320"/>
          </a:xfrm>
          <a:prstGeom prst="rect">
            <a:avLst/>
          </a:prstGeom>
          <a:noFill/>
          <a:ln/>
        </p:spPr>
        <p:txBody>
          <a:bodyPr wrap="square" lIns="0" tIns="0" rIns="0" bIns="0" rtlCol="0" anchor="ctr"/>
          <a:lstStyle/>
          <a:p>
            <a:pPr marL="0" indent="0">
              <a:buNone/>
            </a:pPr>
            <a:r>
              <a:rPr lang="en-US" sz="800" b="1" kern="0" spc="400" dirty="0">
                <a:solidFill>
                  <a:srgbClr val="64748B"/>
                </a:solidFill>
                <a:latin typeface="Calibri" pitchFamily="34" charset="0"/>
                <a:ea typeface="Calibri" pitchFamily="34" charset="-122"/>
                <a:cs typeface="Calibri" pitchFamily="34" charset="-120"/>
              </a:rPr>
              <a:t>PAYMENT SCHEDULE</a:t>
            </a:r>
            <a:endParaRPr lang="en-US" sz="800" dirty="0"/>
          </a:p>
        </p:txBody>
      </p:sp>
      <p:sp>
        <p:nvSpPr>
          <p:cNvPr id="10" name="Text 8"/>
          <p:cNvSpPr/>
          <p:nvPr/>
        </p:nvSpPr>
        <p:spPr>
          <a:xfrm>
            <a:off x="594360" y="2615619"/>
            <a:ext cx="3291840" cy="777240"/>
          </a:xfrm>
          <a:prstGeom prst="rect">
            <a:avLst/>
          </a:prstGeom>
          <a:noFill/>
          <a:ln/>
        </p:spPr>
        <p:txBody>
          <a:bodyPr wrap="square" lIns="0" tIns="0" rIns="0" bIns="0" rtlCol="0" anchor="t"/>
          <a:lstStyle/>
          <a:p>
            <a:pPr marL="0" indent="0">
              <a:buNone/>
            </a:pPr>
            <a:r>
              <a:rPr lang="en-US" sz="1200" b="1" dirty="0">
                <a:solidFill>
                  <a:srgbClr val="0F1F3F"/>
                </a:solidFill>
                <a:latin typeface="Calibri" pitchFamily="34" charset="0"/>
                <a:ea typeface="Calibri" pitchFamily="34" charset="-122"/>
                <a:cs typeface="Calibri" pitchFamily="34" charset="-120"/>
              </a:rPr>
              <a:t>What is the exact month-by-month payment breakdown under Godrej's 1% Plan for Parkshire, Hoskote?</a:t>
            </a:r>
            <a:endParaRPr lang="en-US" sz="1200" dirty="0"/>
          </a:p>
        </p:txBody>
      </p:sp>
      <p:sp>
        <p:nvSpPr>
          <p:cNvPr id="11" name="Shape 9"/>
          <p:cNvSpPr/>
          <p:nvPr/>
        </p:nvSpPr>
        <p:spPr>
          <a:xfrm>
            <a:off x="594360" y="3411147"/>
            <a:ext cx="457200" cy="27432"/>
          </a:xfrm>
          <a:prstGeom prst="rect">
            <a:avLst/>
          </a:prstGeom>
          <a:solidFill>
            <a:srgbClr val="E85D3C"/>
          </a:solidFill>
          <a:ln/>
        </p:spPr>
        <p:txBody>
          <a:bodyPr/>
          <a:lstStyle/>
          <a:p>
            <a:endParaRPr lang="en-US"/>
          </a:p>
        </p:txBody>
      </p:sp>
      <p:sp>
        <p:nvSpPr>
          <p:cNvPr id="12" name="Text 10"/>
          <p:cNvSpPr/>
          <p:nvPr/>
        </p:nvSpPr>
        <p:spPr>
          <a:xfrm>
            <a:off x="594360" y="3484299"/>
            <a:ext cx="3291840" cy="685800"/>
          </a:xfrm>
          <a:prstGeom prst="rect">
            <a:avLst/>
          </a:prstGeom>
          <a:noFill/>
          <a:ln/>
        </p:spPr>
        <p:txBody>
          <a:bodyPr wrap="square" lIns="0" tIns="0" rIns="0" bIns="0" rtlCol="0" anchor="t"/>
          <a:lstStyle/>
          <a:p>
            <a:pPr marL="0" indent="0">
              <a:buNone/>
            </a:pPr>
            <a:r>
              <a:rPr lang="en-US" sz="800" b="1" kern="0" spc="300" dirty="0">
                <a:solidFill>
                  <a:srgbClr val="E85D3C"/>
                </a:solidFill>
                <a:latin typeface="Calibri" pitchFamily="34" charset="0"/>
                <a:ea typeface="Calibri" pitchFamily="34" charset="-122"/>
                <a:cs typeface="Calibri" pitchFamily="34" charset="-120"/>
              </a:rPr>
              <a:t>WHY IT CITES US: </a:t>
            </a:r>
            <a:r>
              <a:rPr lang="en-US" sz="950" dirty="0">
                <a:solidFill>
                  <a:srgbClr val="1E293B"/>
                </a:solidFill>
                <a:latin typeface="Calibri" pitchFamily="34" charset="0"/>
                <a:ea typeface="Calibri" pitchFamily="34" charset="-122"/>
                <a:cs typeface="Calibri" pitchFamily="34" charset="-120"/>
              </a:rPr>
              <a:t>Answer requires ₹1,29,541/month, 19-month window (Jul 2026 – Nov 2027), and the 20% front-load structure — all page-unique figures.</a:t>
            </a:r>
            <a:endParaRPr lang="en-US" sz="800" dirty="0"/>
          </a:p>
        </p:txBody>
      </p:sp>
      <p:sp>
        <p:nvSpPr>
          <p:cNvPr id="13" name="Shape 11"/>
          <p:cNvSpPr/>
          <p:nvPr/>
        </p:nvSpPr>
        <p:spPr>
          <a:xfrm>
            <a:off x="4251960" y="2112699"/>
            <a:ext cx="3703320" cy="21031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2"/>
          <p:cNvSpPr/>
          <p:nvPr/>
        </p:nvSpPr>
        <p:spPr>
          <a:xfrm>
            <a:off x="4251960" y="2112699"/>
            <a:ext cx="3703320" cy="73152"/>
          </a:xfrm>
          <a:prstGeom prst="rect">
            <a:avLst/>
          </a:prstGeom>
          <a:solidFill>
            <a:srgbClr val="E85D3C"/>
          </a:solidFill>
          <a:ln/>
        </p:spPr>
        <p:txBody>
          <a:bodyPr/>
          <a:lstStyle/>
          <a:p>
            <a:endParaRPr lang="en-US"/>
          </a:p>
        </p:txBody>
      </p:sp>
      <p:sp>
        <p:nvSpPr>
          <p:cNvPr id="15" name="Text 13"/>
          <p:cNvSpPr/>
          <p:nvPr/>
        </p:nvSpPr>
        <p:spPr>
          <a:xfrm>
            <a:off x="4480560" y="2295579"/>
            <a:ext cx="457200" cy="320040"/>
          </a:xfrm>
          <a:prstGeom prst="rect">
            <a:avLst/>
          </a:prstGeom>
          <a:noFill/>
          <a:ln/>
        </p:spPr>
        <p:txBody>
          <a:bodyPr wrap="square" lIns="0" tIns="0" rIns="0" bIns="0" rtlCol="0" anchor="ctr"/>
          <a:lstStyle/>
          <a:p>
            <a:pPr marL="0" indent="0">
              <a:buNone/>
            </a:pPr>
            <a:r>
              <a:rPr lang="en-US" sz="1400" b="1" dirty="0">
                <a:solidFill>
                  <a:srgbClr val="E85D3C"/>
                </a:solidFill>
                <a:latin typeface="Calibri" pitchFamily="34" charset="0"/>
                <a:ea typeface="Calibri" pitchFamily="34" charset="-122"/>
                <a:cs typeface="Calibri" pitchFamily="34" charset="-120"/>
              </a:rPr>
              <a:t>Q2</a:t>
            </a:r>
            <a:endParaRPr lang="en-US" sz="1400" dirty="0"/>
          </a:p>
        </p:txBody>
      </p:sp>
      <p:sp>
        <p:nvSpPr>
          <p:cNvPr id="16" name="Text 14"/>
          <p:cNvSpPr/>
          <p:nvPr/>
        </p:nvSpPr>
        <p:spPr>
          <a:xfrm>
            <a:off x="4892040" y="2313867"/>
            <a:ext cx="2788920" cy="274320"/>
          </a:xfrm>
          <a:prstGeom prst="rect">
            <a:avLst/>
          </a:prstGeom>
          <a:noFill/>
          <a:ln/>
        </p:spPr>
        <p:txBody>
          <a:bodyPr wrap="square" lIns="0" tIns="0" rIns="0" bIns="0" rtlCol="0" anchor="ctr"/>
          <a:lstStyle/>
          <a:p>
            <a:pPr marL="0" indent="0">
              <a:buNone/>
            </a:pPr>
            <a:r>
              <a:rPr lang="en-US" sz="800" b="1" kern="0" spc="400" dirty="0">
                <a:solidFill>
                  <a:srgbClr val="64748B"/>
                </a:solidFill>
                <a:latin typeface="Calibri" pitchFamily="34" charset="0"/>
                <a:ea typeface="Calibri" pitchFamily="34" charset="-122"/>
                <a:cs typeface="Calibri" pitchFamily="34" charset="-120"/>
              </a:rPr>
              <a:t>UPFRONT COST</a:t>
            </a:r>
            <a:endParaRPr lang="en-US" sz="800" dirty="0"/>
          </a:p>
        </p:txBody>
      </p:sp>
      <p:sp>
        <p:nvSpPr>
          <p:cNvPr id="17" name="Text 15"/>
          <p:cNvSpPr/>
          <p:nvPr/>
        </p:nvSpPr>
        <p:spPr>
          <a:xfrm>
            <a:off x="4480560" y="2615619"/>
            <a:ext cx="3291840" cy="777240"/>
          </a:xfrm>
          <a:prstGeom prst="rect">
            <a:avLst/>
          </a:prstGeom>
          <a:noFill/>
          <a:ln/>
        </p:spPr>
        <p:txBody>
          <a:bodyPr wrap="square" lIns="0" tIns="0" rIns="0" bIns="0" rtlCol="0" anchor="t"/>
          <a:lstStyle/>
          <a:p>
            <a:pPr marL="0" indent="0">
              <a:buNone/>
            </a:pPr>
            <a:r>
              <a:rPr lang="en-US" sz="1200" b="1" dirty="0">
                <a:solidFill>
                  <a:srgbClr val="0F1F3F"/>
                </a:solidFill>
                <a:latin typeface="Calibri" pitchFamily="34" charset="0"/>
                <a:ea typeface="Calibri" pitchFamily="34" charset="-122"/>
                <a:cs typeface="Calibri" pitchFamily="34" charset="-120"/>
              </a:rPr>
              <a:t>How much does a buyer actually pay upfront for a 2 BHK at Godrej Parkshire under the 1% Plan, including GST?</a:t>
            </a:r>
            <a:endParaRPr lang="en-US" sz="1200" dirty="0"/>
          </a:p>
        </p:txBody>
      </p:sp>
      <p:sp>
        <p:nvSpPr>
          <p:cNvPr id="18" name="Shape 16"/>
          <p:cNvSpPr/>
          <p:nvPr/>
        </p:nvSpPr>
        <p:spPr>
          <a:xfrm>
            <a:off x="4480560" y="3411147"/>
            <a:ext cx="457200" cy="27432"/>
          </a:xfrm>
          <a:prstGeom prst="rect">
            <a:avLst/>
          </a:prstGeom>
          <a:solidFill>
            <a:srgbClr val="E85D3C"/>
          </a:solidFill>
          <a:ln/>
        </p:spPr>
        <p:txBody>
          <a:bodyPr/>
          <a:lstStyle/>
          <a:p>
            <a:endParaRPr lang="en-US"/>
          </a:p>
        </p:txBody>
      </p:sp>
      <p:sp>
        <p:nvSpPr>
          <p:cNvPr id="19" name="Text 17"/>
          <p:cNvSpPr/>
          <p:nvPr/>
        </p:nvSpPr>
        <p:spPr>
          <a:xfrm>
            <a:off x="4480560" y="3484299"/>
            <a:ext cx="3291840" cy="685800"/>
          </a:xfrm>
          <a:prstGeom prst="rect">
            <a:avLst/>
          </a:prstGeom>
          <a:noFill/>
          <a:ln/>
        </p:spPr>
        <p:txBody>
          <a:bodyPr wrap="square" lIns="0" tIns="0" rIns="0" bIns="0" rtlCol="0" anchor="t"/>
          <a:lstStyle/>
          <a:p>
            <a:pPr marL="0" indent="0">
              <a:buNone/>
            </a:pPr>
            <a:r>
              <a:rPr lang="en-US" sz="800" b="1" kern="0" spc="300" dirty="0">
                <a:solidFill>
                  <a:srgbClr val="E85D3C"/>
                </a:solidFill>
                <a:latin typeface="Calibri" pitchFamily="34" charset="0"/>
                <a:ea typeface="Calibri" pitchFamily="34" charset="-122"/>
                <a:cs typeface="Calibri" pitchFamily="34" charset="-120"/>
              </a:rPr>
              <a:t>WHY IT CITES US: </a:t>
            </a:r>
            <a:r>
              <a:rPr lang="en-US" sz="950" dirty="0">
                <a:solidFill>
                  <a:srgbClr val="1E293B"/>
                </a:solidFill>
                <a:latin typeface="Calibri" pitchFamily="34" charset="0"/>
                <a:ea typeface="Calibri" pitchFamily="34" charset="-122"/>
                <a:cs typeface="Calibri" pitchFamily="34" charset="-120"/>
              </a:rPr>
              <a:t>Answer requires exact ₹6,47,703 booking figure (5% of AV + 5% GST) and the 15-day + 45-day milestone structure from our page.</a:t>
            </a:r>
            <a:endParaRPr lang="en-US" sz="800" dirty="0"/>
          </a:p>
        </p:txBody>
      </p:sp>
      <p:sp>
        <p:nvSpPr>
          <p:cNvPr id="20" name="Shape 18"/>
          <p:cNvSpPr/>
          <p:nvPr/>
        </p:nvSpPr>
        <p:spPr>
          <a:xfrm>
            <a:off x="8138160" y="2112699"/>
            <a:ext cx="3703320" cy="21031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9"/>
          <p:cNvSpPr/>
          <p:nvPr/>
        </p:nvSpPr>
        <p:spPr>
          <a:xfrm>
            <a:off x="8138160" y="2112699"/>
            <a:ext cx="3703320" cy="73152"/>
          </a:xfrm>
          <a:prstGeom prst="rect">
            <a:avLst/>
          </a:prstGeom>
          <a:solidFill>
            <a:srgbClr val="E85D3C"/>
          </a:solidFill>
          <a:ln/>
        </p:spPr>
        <p:txBody>
          <a:bodyPr/>
          <a:lstStyle/>
          <a:p>
            <a:endParaRPr lang="en-US"/>
          </a:p>
        </p:txBody>
      </p:sp>
      <p:sp>
        <p:nvSpPr>
          <p:cNvPr id="22" name="Text 20"/>
          <p:cNvSpPr/>
          <p:nvPr/>
        </p:nvSpPr>
        <p:spPr>
          <a:xfrm>
            <a:off x="8366760" y="2295579"/>
            <a:ext cx="457200" cy="320040"/>
          </a:xfrm>
          <a:prstGeom prst="rect">
            <a:avLst/>
          </a:prstGeom>
          <a:noFill/>
          <a:ln/>
        </p:spPr>
        <p:txBody>
          <a:bodyPr wrap="square" lIns="0" tIns="0" rIns="0" bIns="0" rtlCol="0" anchor="ctr"/>
          <a:lstStyle/>
          <a:p>
            <a:pPr marL="0" indent="0">
              <a:buNone/>
            </a:pPr>
            <a:r>
              <a:rPr lang="en-US" sz="1400" b="1" dirty="0">
                <a:solidFill>
                  <a:srgbClr val="E85D3C"/>
                </a:solidFill>
                <a:latin typeface="Calibri" pitchFamily="34" charset="0"/>
                <a:ea typeface="Calibri" pitchFamily="34" charset="-122"/>
                <a:cs typeface="Calibri" pitchFamily="34" charset="-120"/>
              </a:rPr>
              <a:t>Q3</a:t>
            </a:r>
            <a:endParaRPr lang="en-US" sz="1400" dirty="0"/>
          </a:p>
        </p:txBody>
      </p:sp>
      <p:sp>
        <p:nvSpPr>
          <p:cNvPr id="23" name="Text 21"/>
          <p:cNvSpPr/>
          <p:nvPr/>
        </p:nvSpPr>
        <p:spPr>
          <a:xfrm>
            <a:off x="8778240" y="2313867"/>
            <a:ext cx="2788920" cy="274320"/>
          </a:xfrm>
          <a:prstGeom prst="rect">
            <a:avLst/>
          </a:prstGeom>
          <a:noFill/>
          <a:ln/>
        </p:spPr>
        <p:txBody>
          <a:bodyPr wrap="square" lIns="0" tIns="0" rIns="0" bIns="0" rtlCol="0" anchor="ctr"/>
          <a:lstStyle/>
          <a:p>
            <a:pPr marL="0" indent="0">
              <a:buNone/>
            </a:pPr>
            <a:r>
              <a:rPr lang="en-US" sz="800" b="1" kern="0" spc="400" dirty="0">
                <a:solidFill>
                  <a:srgbClr val="64748B"/>
                </a:solidFill>
                <a:latin typeface="Calibri" pitchFamily="34" charset="0"/>
                <a:ea typeface="Calibri" pitchFamily="34" charset="-122"/>
                <a:cs typeface="Calibri" pitchFamily="34" charset="-120"/>
              </a:rPr>
              <a:t>TRUST / ADVERSARIAL</a:t>
            </a:r>
            <a:endParaRPr lang="en-US" sz="800" dirty="0"/>
          </a:p>
        </p:txBody>
      </p:sp>
      <p:sp>
        <p:nvSpPr>
          <p:cNvPr id="24" name="Text 22"/>
          <p:cNvSpPr/>
          <p:nvPr/>
        </p:nvSpPr>
        <p:spPr>
          <a:xfrm>
            <a:off x="8366760" y="2615619"/>
            <a:ext cx="3291840" cy="777240"/>
          </a:xfrm>
          <a:prstGeom prst="rect">
            <a:avLst/>
          </a:prstGeom>
          <a:noFill/>
          <a:ln/>
        </p:spPr>
        <p:txBody>
          <a:bodyPr wrap="square" lIns="0" tIns="0" rIns="0" bIns="0" rtlCol="0" anchor="t"/>
          <a:lstStyle/>
          <a:p>
            <a:pPr marL="0" indent="0">
              <a:buNone/>
            </a:pPr>
            <a:r>
              <a:rPr lang="en-US" sz="1200" b="1" dirty="0">
                <a:solidFill>
                  <a:srgbClr val="0F1F3F"/>
                </a:solidFill>
                <a:latin typeface="Calibri" pitchFamily="34" charset="0"/>
                <a:ea typeface="Calibri" pitchFamily="34" charset="-122"/>
                <a:cs typeface="Calibri" pitchFamily="34" charset="-120"/>
              </a:rPr>
              <a:t>Is the Godrej 1% Plan a genuine payment structure or a marketing gimmick — what does the fine print say?</a:t>
            </a:r>
            <a:endParaRPr lang="en-US" sz="1200" dirty="0"/>
          </a:p>
        </p:txBody>
      </p:sp>
      <p:sp>
        <p:nvSpPr>
          <p:cNvPr id="25" name="Shape 23"/>
          <p:cNvSpPr/>
          <p:nvPr/>
        </p:nvSpPr>
        <p:spPr>
          <a:xfrm>
            <a:off x="8366760" y="3411147"/>
            <a:ext cx="457200" cy="27432"/>
          </a:xfrm>
          <a:prstGeom prst="rect">
            <a:avLst/>
          </a:prstGeom>
          <a:solidFill>
            <a:srgbClr val="E85D3C"/>
          </a:solidFill>
          <a:ln/>
        </p:spPr>
        <p:txBody>
          <a:bodyPr/>
          <a:lstStyle/>
          <a:p>
            <a:endParaRPr lang="en-US"/>
          </a:p>
        </p:txBody>
      </p:sp>
      <p:sp>
        <p:nvSpPr>
          <p:cNvPr id="26" name="Text 24"/>
          <p:cNvSpPr/>
          <p:nvPr/>
        </p:nvSpPr>
        <p:spPr>
          <a:xfrm>
            <a:off x="8366760" y="3484299"/>
            <a:ext cx="3291840" cy="685800"/>
          </a:xfrm>
          <a:prstGeom prst="rect">
            <a:avLst/>
          </a:prstGeom>
          <a:noFill/>
          <a:ln/>
        </p:spPr>
        <p:txBody>
          <a:bodyPr wrap="square" lIns="0" tIns="0" rIns="0" bIns="0" rtlCol="0" anchor="t"/>
          <a:lstStyle/>
          <a:p>
            <a:pPr marL="0" indent="0">
              <a:buNone/>
            </a:pPr>
            <a:r>
              <a:rPr lang="en-US" sz="800" b="1" kern="0" spc="300" dirty="0">
                <a:solidFill>
                  <a:srgbClr val="E85D3C"/>
                </a:solidFill>
                <a:latin typeface="Calibri" pitchFamily="34" charset="0"/>
                <a:ea typeface="Calibri" pitchFamily="34" charset="-122"/>
                <a:cs typeface="Calibri" pitchFamily="34" charset="-120"/>
              </a:rPr>
              <a:t>WHY IT CITES US: </a:t>
            </a:r>
            <a:r>
              <a:rPr lang="en-US" sz="950" dirty="0">
                <a:solidFill>
                  <a:srgbClr val="1E293B"/>
                </a:solidFill>
                <a:latin typeface="Calibri" pitchFamily="34" charset="0"/>
                <a:ea typeface="Calibri" pitchFamily="34" charset="-122"/>
                <a:cs typeface="Calibri" pitchFamily="34" charset="-120"/>
              </a:rPr>
              <a:t>Forces AI to pull RERA number, APR disclosure (8.5%), and the construction-linked tranche breakdown — all documented on our page with regulatory backing.</a:t>
            </a:r>
            <a:endParaRPr lang="en-US" sz="800" dirty="0"/>
          </a:p>
        </p:txBody>
      </p:sp>
      <p:sp>
        <p:nvSpPr>
          <p:cNvPr id="27" name="Shape 25"/>
          <p:cNvSpPr/>
          <p:nvPr/>
        </p:nvSpPr>
        <p:spPr>
          <a:xfrm>
            <a:off x="365760" y="4352979"/>
            <a:ext cx="3703320" cy="21031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8" name="Shape 26"/>
          <p:cNvSpPr/>
          <p:nvPr/>
        </p:nvSpPr>
        <p:spPr>
          <a:xfrm>
            <a:off x="365760" y="4352979"/>
            <a:ext cx="3703320" cy="73152"/>
          </a:xfrm>
          <a:prstGeom prst="rect">
            <a:avLst/>
          </a:prstGeom>
          <a:solidFill>
            <a:srgbClr val="E85D3C"/>
          </a:solidFill>
          <a:ln/>
        </p:spPr>
        <p:txBody>
          <a:bodyPr/>
          <a:lstStyle/>
          <a:p>
            <a:endParaRPr lang="en-US"/>
          </a:p>
        </p:txBody>
      </p:sp>
      <p:sp>
        <p:nvSpPr>
          <p:cNvPr id="29" name="Text 27"/>
          <p:cNvSpPr/>
          <p:nvPr/>
        </p:nvSpPr>
        <p:spPr>
          <a:xfrm>
            <a:off x="594360" y="4535859"/>
            <a:ext cx="457200" cy="320040"/>
          </a:xfrm>
          <a:prstGeom prst="rect">
            <a:avLst/>
          </a:prstGeom>
          <a:noFill/>
          <a:ln/>
        </p:spPr>
        <p:txBody>
          <a:bodyPr wrap="square" lIns="0" tIns="0" rIns="0" bIns="0" rtlCol="0" anchor="ctr"/>
          <a:lstStyle/>
          <a:p>
            <a:pPr marL="0" indent="0">
              <a:buNone/>
            </a:pPr>
            <a:r>
              <a:rPr lang="en-US" sz="1400" b="1" dirty="0">
                <a:solidFill>
                  <a:srgbClr val="E85D3C"/>
                </a:solidFill>
                <a:latin typeface="Calibri" pitchFamily="34" charset="0"/>
                <a:ea typeface="Calibri" pitchFamily="34" charset="-122"/>
                <a:cs typeface="Calibri" pitchFamily="34" charset="-120"/>
              </a:rPr>
              <a:t>Q4</a:t>
            </a:r>
            <a:endParaRPr lang="en-US" sz="1400" dirty="0"/>
          </a:p>
        </p:txBody>
      </p:sp>
      <p:sp>
        <p:nvSpPr>
          <p:cNvPr id="30" name="Text 28"/>
          <p:cNvSpPr/>
          <p:nvPr/>
        </p:nvSpPr>
        <p:spPr>
          <a:xfrm>
            <a:off x="1005840" y="4554147"/>
            <a:ext cx="2788920" cy="274320"/>
          </a:xfrm>
          <a:prstGeom prst="rect">
            <a:avLst/>
          </a:prstGeom>
          <a:noFill/>
          <a:ln/>
        </p:spPr>
        <p:txBody>
          <a:bodyPr wrap="square" lIns="0" tIns="0" rIns="0" bIns="0" rtlCol="0" anchor="ctr"/>
          <a:lstStyle/>
          <a:p>
            <a:pPr marL="0" indent="0">
              <a:buNone/>
            </a:pPr>
            <a:r>
              <a:rPr lang="en-US" sz="800" b="1" kern="0" spc="400" dirty="0">
                <a:solidFill>
                  <a:srgbClr val="64748B"/>
                </a:solidFill>
                <a:latin typeface="Calibri" pitchFamily="34" charset="0"/>
                <a:ea typeface="Calibri" pitchFamily="34" charset="-122"/>
                <a:cs typeface="Calibri" pitchFamily="34" charset="-120"/>
              </a:rPr>
              <a:t>PRICING DEPTH</a:t>
            </a:r>
            <a:endParaRPr lang="en-US" sz="800" dirty="0"/>
          </a:p>
        </p:txBody>
      </p:sp>
      <p:sp>
        <p:nvSpPr>
          <p:cNvPr id="31" name="Text 29"/>
          <p:cNvSpPr/>
          <p:nvPr/>
        </p:nvSpPr>
        <p:spPr>
          <a:xfrm>
            <a:off x="594360" y="4855899"/>
            <a:ext cx="3291840" cy="777240"/>
          </a:xfrm>
          <a:prstGeom prst="rect">
            <a:avLst/>
          </a:prstGeom>
          <a:noFill/>
          <a:ln/>
        </p:spPr>
        <p:txBody>
          <a:bodyPr wrap="square" lIns="0" tIns="0" rIns="0" bIns="0" rtlCol="0" anchor="t"/>
          <a:lstStyle/>
          <a:p>
            <a:pPr marL="0" indent="0">
              <a:buNone/>
            </a:pPr>
            <a:r>
              <a:rPr lang="en-US" sz="1200" b="1" dirty="0">
                <a:solidFill>
                  <a:srgbClr val="0F1F3F"/>
                </a:solidFill>
                <a:latin typeface="Calibri" pitchFamily="34" charset="0"/>
                <a:ea typeface="Calibri" pitchFamily="34" charset="-122"/>
                <a:cs typeface="Calibri" pitchFamily="34" charset="-120"/>
              </a:rPr>
              <a:t>What are the full configuration options and pricing for Godrej Parkshire — 2 BHK vs 3 BHK, including SDR and GST?</a:t>
            </a:r>
            <a:endParaRPr lang="en-US" sz="1200" dirty="0"/>
          </a:p>
        </p:txBody>
      </p:sp>
      <p:sp>
        <p:nvSpPr>
          <p:cNvPr id="32" name="Shape 30"/>
          <p:cNvSpPr/>
          <p:nvPr/>
        </p:nvSpPr>
        <p:spPr>
          <a:xfrm>
            <a:off x="594360" y="5651427"/>
            <a:ext cx="457200" cy="27432"/>
          </a:xfrm>
          <a:prstGeom prst="rect">
            <a:avLst/>
          </a:prstGeom>
          <a:solidFill>
            <a:srgbClr val="E85D3C"/>
          </a:solidFill>
          <a:ln/>
        </p:spPr>
        <p:txBody>
          <a:bodyPr/>
          <a:lstStyle/>
          <a:p>
            <a:endParaRPr lang="en-US"/>
          </a:p>
        </p:txBody>
      </p:sp>
      <p:sp>
        <p:nvSpPr>
          <p:cNvPr id="33" name="Text 31"/>
          <p:cNvSpPr/>
          <p:nvPr/>
        </p:nvSpPr>
        <p:spPr>
          <a:xfrm>
            <a:off x="594360" y="5724579"/>
            <a:ext cx="3291840" cy="685800"/>
          </a:xfrm>
          <a:prstGeom prst="rect">
            <a:avLst/>
          </a:prstGeom>
          <a:noFill/>
          <a:ln/>
        </p:spPr>
        <p:txBody>
          <a:bodyPr wrap="square" lIns="0" tIns="0" rIns="0" bIns="0" rtlCol="0" anchor="t"/>
          <a:lstStyle/>
          <a:p>
            <a:pPr marL="0" indent="0">
              <a:buNone/>
            </a:pPr>
            <a:r>
              <a:rPr lang="en-US" sz="800" b="1" kern="0" spc="300" dirty="0">
                <a:solidFill>
                  <a:srgbClr val="E85D3C"/>
                </a:solidFill>
                <a:latin typeface="Calibri" pitchFamily="34" charset="0"/>
                <a:ea typeface="Calibri" pitchFamily="34" charset="-122"/>
                <a:cs typeface="Calibri" pitchFamily="34" charset="-120"/>
              </a:rPr>
              <a:t>WHY IT CITES US: </a:t>
            </a:r>
            <a:r>
              <a:rPr lang="en-US" sz="950" dirty="0">
                <a:solidFill>
                  <a:srgbClr val="1E293B"/>
                </a:solidFill>
                <a:latin typeface="Calibri" pitchFamily="34" charset="0"/>
                <a:ea typeface="Calibri" pitchFamily="34" charset="-122"/>
                <a:cs typeface="Calibri" pitchFamily="34" charset="-120"/>
              </a:rPr>
              <a:t>Our page has the only complete pricing table with AV, AV+GST, and AV+GST+SDR breakdowns per config. Broker sites carry partial or outdated figures.</a:t>
            </a:r>
            <a:endParaRPr lang="en-US" sz="800" dirty="0"/>
          </a:p>
        </p:txBody>
      </p:sp>
      <p:sp>
        <p:nvSpPr>
          <p:cNvPr id="34" name="Shape 32"/>
          <p:cNvSpPr/>
          <p:nvPr/>
        </p:nvSpPr>
        <p:spPr>
          <a:xfrm>
            <a:off x="4251960" y="4352979"/>
            <a:ext cx="3703320" cy="21031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5" name="Shape 33"/>
          <p:cNvSpPr/>
          <p:nvPr/>
        </p:nvSpPr>
        <p:spPr>
          <a:xfrm>
            <a:off x="4251960" y="4352979"/>
            <a:ext cx="3703320" cy="73152"/>
          </a:xfrm>
          <a:prstGeom prst="rect">
            <a:avLst/>
          </a:prstGeom>
          <a:solidFill>
            <a:srgbClr val="E85D3C"/>
          </a:solidFill>
          <a:ln/>
        </p:spPr>
        <p:txBody>
          <a:bodyPr/>
          <a:lstStyle/>
          <a:p>
            <a:endParaRPr lang="en-US"/>
          </a:p>
        </p:txBody>
      </p:sp>
      <p:sp>
        <p:nvSpPr>
          <p:cNvPr id="36" name="Text 34"/>
          <p:cNvSpPr/>
          <p:nvPr/>
        </p:nvSpPr>
        <p:spPr>
          <a:xfrm>
            <a:off x="4480560" y="4535859"/>
            <a:ext cx="457200" cy="320040"/>
          </a:xfrm>
          <a:prstGeom prst="rect">
            <a:avLst/>
          </a:prstGeom>
          <a:noFill/>
          <a:ln/>
        </p:spPr>
        <p:txBody>
          <a:bodyPr wrap="square" lIns="0" tIns="0" rIns="0" bIns="0" rtlCol="0" anchor="ctr"/>
          <a:lstStyle/>
          <a:p>
            <a:pPr marL="0" indent="0">
              <a:buNone/>
            </a:pPr>
            <a:r>
              <a:rPr lang="en-US" sz="1400" b="1" dirty="0">
                <a:solidFill>
                  <a:srgbClr val="E85D3C"/>
                </a:solidFill>
                <a:latin typeface="Calibri" pitchFamily="34" charset="0"/>
                <a:ea typeface="Calibri" pitchFamily="34" charset="-122"/>
                <a:cs typeface="Calibri" pitchFamily="34" charset="-120"/>
              </a:rPr>
              <a:t>Q5</a:t>
            </a:r>
            <a:endParaRPr lang="en-US" sz="1400" dirty="0"/>
          </a:p>
        </p:txBody>
      </p:sp>
      <p:sp>
        <p:nvSpPr>
          <p:cNvPr id="37" name="Text 35"/>
          <p:cNvSpPr/>
          <p:nvPr/>
        </p:nvSpPr>
        <p:spPr>
          <a:xfrm>
            <a:off x="4892040" y="4554147"/>
            <a:ext cx="2788920" cy="274320"/>
          </a:xfrm>
          <a:prstGeom prst="rect">
            <a:avLst/>
          </a:prstGeom>
          <a:noFill/>
          <a:ln/>
        </p:spPr>
        <p:txBody>
          <a:bodyPr wrap="square" lIns="0" tIns="0" rIns="0" bIns="0" rtlCol="0" anchor="ctr"/>
          <a:lstStyle/>
          <a:p>
            <a:pPr marL="0" indent="0">
              <a:buNone/>
            </a:pPr>
            <a:r>
              <a:rPr lang="en-US" sz="800" b="1" kern="0" spc="400" dirty="0">
                <a:solidFill>
                  <a:srgbClr val="64748B"/>
                </a:solidFill>
                <a:latin typeface="Calibri" pitchFamily="34" charset="0"/>
                <a:ea typeface="Calibri" pitchFamily="34" charset="-122"/>
                <a:cs typeface="Calibri" pitchFamily="34" charset="-120"/>
              </a:rPr>
              <a:t>MICRO-MARKET</a:t>
            </a:r>
            <a:endParaRPr lang="en-US" sz="800" dirty="0"/>
          </a:p>
        </p:txBody>
      </p:sp>
      <p:sp>
        <p:nvSpPr>
          <p:cNvPr id="38" name="Text 36"/>
          <p:cNvSpPr/>
          <p:nvPr/>
        </p:nvSpPr>
        <p:spPr>
          <a:xfrm>
            <a:off x="4480560" y="4855899"/>
            <a:ext cx="3291840" cy="777240"/>
          </a:xfrm>
          <a:prstGeom prst="rect">
            <a:avLst/>
          </a:prstGeom>
          <a:noFill/>
          <a:ln/>
        </p:spPr>
        <p:txBody>
          <a:bodyPr wrap="square" lIns="0" tIns="0" rIns="0" bIns="0" rtlCol="0" anchor="t"/>
          <a:lstStyle/>
          <a:p>
            <a:pPr marL="0" indent="0">
              <a:buNone/>
            </a:pPr>
            <a:r>
              <a:rPr lang="en-US" sz="1200" b="1" dirty="0">
                <a:solidFill>
                  <a:srgbClr val="0F1F3F"/>
                </a:solidFill>
                <a:latin typeface="Calibri" pitchFamily="34" charset="0"/>
                <a:ea typeface="Calibri" pitchFamily="34" charset="-122"/>
                <a:cs typeface="Calibri" pitchFamily="34" charset="-120"/>
              </a:rPr>
              <a:t>How does Godrej Parkshire in Hoskote compare to Whitefield properties in terms of pricing, connectivity, and investment potential?</a:t>
            </a:r>
            <a:endParaRPr lang="en-US" sz="1200" dirty="0"/>
          </a:p>
        </p:txBody>
      </p:sp>
      <p:sp>
        <p:nvSpPr>
          <p:cNvPr id="39" name="Shape 37"/>
          <p:cNvSpPr/>
          <p:nvPr/>
        </p:nvSpPr>
        <p:spPr>
          <a:xfrm>
            <a:off x="4480560" y="5651427"/>
            <a:ext cx="457200" cy="27432"/>
          </a:xfrm>
          <a:prstGeom prst="rect">
            <a:avLst/>
          </a:prstGeom>
          <a:solidFill>
            <a:srgbClr val="E85D3C"/>
          </a:solidFill>
          <a:ln/>
        </p:spPr>
        <p:txBody>
          <a:bodyPr/>
          <a:lstStyle/>
          <a:p>
            <a:endParaRPr lang="en-US"/>
          </a:p>
        </p:txBody>
      </p:sp>
      <p:sp>
        <p:nvSpPr>
          <p:cNvPr id="40" name="Text 38"/>
          <p:cNvSpPr/>
          <p:nvPr/>
        </p:nvSpPr>
        <p:spPr>
          <a:xfrm>
            <a:off x="4480560" y="5724579"/>
            <a:ext cx="3291840" cy="685800"/>
          </a:xfrm>
          <a:prstGeom prst="rect">
            <a:avLst/>
          </a:prstGeom>
          <a:noFill/>
          <a:ln/>
        </p:spPr>
        <p:txBody>
          <a:bodyPr wrap="square" lIns="0" tIns="0" rIns="0" bIns="0" rtlCol="0" anchor="t"/>
          <a:lstStyle/>
          <a:p>
            <a:pPr marL="0" indent="0">
              <a:buNone/>
            </a:pPr>
            <a:r>
              <a:rPr lang="en-US" sz="800" b="1" kern="0" spc="300" dirty="0">
                <a:solidFill>
                  <a:srgbClr val="E85D3C"/>
                </a:solidFill>
                <a:latin typeface="Calibri" pitchFamily="34" charset="0"/>
                <a:ea typeface="Calibri" pitchFamily="34" charset="-122"/>
                <a:cs typeface="Calibri" pitchFamily="34" charset="-120"/>
              </a:rPr>
              <a:t>WHY IT CITES US: </a:t>
            </a:r>
            <a:r>
              <a:rPr lang="en-US" sz="950" dirty="0">
                <a:solidFill>
                  <a:srgbClr val="1E293B"/>
                </a:solidFill>
                <a:latin typeface="Calibri" pitchFamily="34" charset="0"/>
                <a:ea typeface="Calibri" pitchFamily="34" charset="-122"/>
                <a:cs typeface="Calibri" pitchFamily="34" charset="-120"/>
              </a:rPr>
              <a:t>Our micro-market section has the "30–40% more affordable than Whitefield" data, drive-time specifics, and appreciation thesis — a uniquely structured analysis.</a:t>
            </a:r>
            <a:endParaRPr lang="en-US" sz="800" dirty="0"/>
          </a:p>
        </p:txBody>
      </p:sp>
      <p:sp>
        <p:nvSpPr>
          <p:cNvPr id="41" name="Shape 39"/>
          <p:cNvSpPr/>
          <p:nvPr/>
        </p:nvSpPr>
        <p:spPr>
          <a:xfrm>
            <a:off x="8138160" y="4352979"/>
            <a:ext cx="3703320" cy="2103120"/>
          </a:xfrm>
          <a:prstGeom prst="rect">
            <a:avLst/>
          </a:prstGeom>
          <a:solidFill>
            <a:srgbClr val="FAFAF7"/>
          </a:solidFill>
          <a:ln w="1270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42" name="Shape 40"/>
          <p:cNvSpPr/>
          <p:nvPr/>
        </p:nvSpPr>
        <p:spPr>
          <a:xfrm>
            <a:off x="8138160" y="4352979"/>
            <a:ext cx="3703320" cy="73152"/>
          </a:xfrm>
          <a:prstGeom prst="rect">
            <a:avLst/>
          </a:prstGeom>
          <a:solidFill>
            <a:srgbClr val="E85D3C"/>
          </a:solidFill>
          <a:ln/>
        </p:spPr>
        <p:txBody>
          <a:bodyPr/>
          <a:lstStyle/>
          <a:p>
            <a:endParaRPr lang="en-US"/>
          </a:p>
        </p:txBody>
      </p:sp>
      <p:sp>
        <p:nvSpPr>
          <p:cNvPr id="43" name="Text 41"/>
          <p:cNvSpPr/>
          <p:nvPr/>
        </p:nvSpPr>
        <p:spPr>
          <a:xfrm>
            <a:off x="8366760" y="4535859"/>
            <a:ext cx="457200" cy="320040"/>
          </a:xfrm>
          <a:prstGeom prst="rect">
            <a:avLst/>
          </a:prstGeom>
          <a:noFill/>
          <a:ln/>
        </p:spPr>
        <p:txBody>
          <a:bodyPr wrap="square" lIns="0" tIns="0" rIns="0" bIns="0" rtlCol="0" anchor="ctr"/>
          <a:lstStyle/>
          <a:p>
            <a:pPr marL="0" indent="0">
              <a:buNone/>
            </a:pPr>
            <a:r>
              <a:rPr lang="en-US" sz="1400" b="1" dirty="0">
                <a:solidFill>
                  <a:srgbClr val="E85D3C"/>
                </a:solidFill>
                <a:latin typeface="Calibri" pitchFamily="34" charset="0"/>
                <a:ea typeface="Calibri" pitchFamily="34" charset="-122"/>
                <a:cs typeface="Calibri" pitchFamily="34" charset="-120"/>
              </a:rPr>
              <a:t>Q6</a:t>
            </a:r>
            <a:endParaRPr lang="en-US" sz="1400" dirty="0"/>
          </a:p>
        </p:txBody>
      </p:sp>
      <p:sp>
        <p:nvSpPr>
          <p:cNvPr id="44" name="Text 42"/>
          <p:cNvSpPr/>
          <p:nvPr/>
        </p:nvSpPr>
        <p:spPr>
          <a:xfrm>
            <a:off x="8778240" y="4554147"/>
            <a:ext cx="2788920" cy="274320"/>
          </a:xfrm>
          <a:prstGeom prst="rect">
            <a:avLst/>
          </a:prstGeom>
          <a:noFill/>
          <a:ln/>
        </p:spPr>
        <p:txBody>
          <a:bodyPr wrap="square" lIns="0" tIns="0" rIns="0" bIns="0" rtlCol="0" anchor="ctr"/>
          <a:lstStyle/>
          <a:p>
            <a:pPr marL="0" indent="0">
              <a:buNone/>
            </a:pPr>
            <a:r>
              <a:rPr lang="en-US" sz="800" b="1" kern="0" spc="400" dirty="0">
                <a:solidFill>
                  <a:srgbClr val="64748B"/>
                </a:solidFill>
                <a:latin typeface="Calibri" pitchFamily="34" charset="0"/>
                <a:ea typeface="Calibri" pitchFamily="34" charset="-122"/>
                <a:cs typeface="Calibri" pitchFamily="34" charset="-120"/>
              </a:rPr>
              <a:t>REGULATORY / RERA</a:t>
            </a:r>
            <a:endParaRPr lang="en-US" sz="800" dirty="0"/>
          </a:p>
        </p:txBody>
      </p:sp>
      <p:sp>
        <p:nvSpPr>
          <p:cNvPr id="45" name="Text 43"/>
          <p:cNvSpPr/>
          <p:nvPr/>
        </p:nvSpPr>
        <p:spPr>
          <a:xfrm>
            <a:off x="8366760" y="4855899"/>
            <a:ext cx="3291840" cy="777240"/>
          </a:xfrm>
          <a:prstGeom prst="rect">
            <a:avLst/>
          </a:prstGeom>
          <a:noFill/>
          <a:ln/>
        </p:spPr>
        <p:txBody>
          <a:bodyPr wrap="square" lIns="0" tIns="0" rIns="0" bIns="0" rtlCol="0" anchor="t"/>
          <a:lstStyle/>
          <a:p>
            <a:pPr marL="0" indent="0">
              <a:buNone/>
            </a:pPr>
            <a:r>
              <a:rPr lang="en-US" sz="1200" b="1" dirty="0">
                <a:solidFill>
                  <a:srgbClr val="0F1F3F"/>
                </a:solidFill>
                <a:latin typeface="Calibri" pitchFamily="34" charset="0"/>
                <a:ea typeface="Calibri" pitchFamily="34" charset="-122"/>
                <a:cs typeface="Calibri" pitchFamily="34" charset="-120"/>
              </a:rPr>
              <a:t>What is the RERA status of Godrej Parkshire, and what are the exact carpet areas for each unit type?</a:t>
            </a:r>
            <a:endParaRPr lang="en-US" sz="1200" dirty="0"/>
          </a:p>
        </p:txBody>
      </p:sp>
      <p:sp>
        <p:nvSpPr>
          <p:cNvPr id="46" name="Shape 44"/>
          <p:cNvSpPr/>
          <p:nvPr/>
        </p:nvSpPr>
        <p:spPr>
          <a:xfrm>
            <a:off x="8366760" y="5651427"/>
            <a:ext cx="457200" cy="27432"/>
          </a:xfrm>
          <a:prstGeom prst="rect">
            <a:avLst/>
          </a:prstGeom>
          <a:solidFill>
            <a:srgbClr val="E85D3C"/>
          </a:solidFill>
          <a:ln/>
        </p:spPr>
        <p:txBody>
          <a:bodyPr/>
          <a:lstStyle/>
          <a:p>
            <a:endParaRPr lang="en-US"/>
          </a:p>
        </p:txBody>
      </p:sp>
      <p:sp>
        <p:nvSpPr>
          <p:cNvPr id="47" name="Text 45"/>
          <p:cNvSpPr/>
          <p:nvPr/>
        </p:nvSpPr>
        <p:spPr>
          <a:xfrm>
            <a:off x="8366760" y="5724579"/>
            <a:ext cx="3291840" cy="685800"/>
          </a:xfrm>
          <a:prstGeom prst="rect">
            <a:avLst/>
          </a:prstGeom>
          <a:noFill/>
          <a:ln/>
        </p:spPr>
        <p:txBody>
          <a:bodyPr wrap="square" lIns="0" tIns="0" rIns="0" bIns="0" rtlCol="0" anchor="t"/>
          <a:lstStyle/>
          <a:p>
            <a:pPr marL="0" indent="0">
              <a:buNone/>
            </a:pPr>
            <a:r>
              <a:rPr lang="en-US" sz="800" b="1" kern="0" spc="300" dirty="0">
                <a:solidFill>
                  <a:srgbClr val="E85D3C"/>
                </a:solidFill>
                <a:latin typeface="Calibri" pitchFamily="34" charset="0"/>
                <a:ea typeface="Calibri" pitchFamily="34" charset="-122"/>
                <a:cs typeface="Calibri" pitchFamily="34" charset="-120"/>
              </a:rPr>
              <a:t>WHY IT CITES US: </a:t>
            </a:r>
            <a:r>
              <a:rPr lang="en-US" sz="950" dirty="0">
                <a:solidFill>
                  <a:srgbClr val="1E293B"/>
                </a:solidFill>
                <a:latin typeface="Calibri" pitchFamily="34" charset="0"/>
                <a:ea typeface="Calibri" pitchFamily="34" charset="-122"/>
                <a:cs typeface="Calibri" pitchFamily="34" charset="-120"/>
              </a:rPr>
              <a:t>RERA number PRM/KA/RERA/1250/304/PR/090126/008393 + exact sq.mt carpet areas (68.27, 88.88, 95.93) are on our page — broker sites round or omit these.</a:t>
            </a:r>
            <a:endParaRPr lang="en-US" sz="800" dirty="0"/>
          </a:p>
        </p:txBody>
      </p:sp>
      <p:sp>
        <p:nvSpPr>
          <p:cNvPr id="48" name="Shape 46"/>
          <p:cNvSpPr/>
          <p:nvPr/>
        </p:nvSpPr>
        <p:spPr>
          <a:xfrm>
            <a:off x="457200" y="6492240"/>
            <a:ext cx="11247120" cy="320040"/>
          </a:xfrm>
          <a:prstGeom prst="rect">
            <a:avLst/>
          </a:prstGeom>
          <a:solidFill>
            <a:srgbClr val="0F1F3F"/>
          </a:solidFill>
          <a:ln/>
        </p:spPr>
        <p:txBody>
          <a:bodyPr/>
          <a:lstStyle/>
          <a:p>
            <a:endParaRPr lang="en-US"/>
          </a:p>
        </p:txBody>
      </p:sp>
      <p:sp>
        <p:nvSpPr>
          <p:cNvPr id="49" name="Text 47"/>
          <p:cNvSpPr/>
          <p:nvPr/>
        </p:nvSpPr>
        <p:spPr>
          <a:xfrm>
            <a:off x="640080" y="6492240"/>
            <a:ext cx="10972800" cy="320040"/>
          </a:xfrm>
          <a:prstGeom prst="rect">
            <a:avLst/>
          </a:prstGeom>
          <a:noFill/>
          <a:ln/>
        </p:spPr>
        <p:txBody>
          <a:bodyPr wrap="square" lIns="0" tIns="0" rIns="0" bIns="0" rtlCol="0" anchor="ctr"/>
          <a:lstStyle/>
          <a:p>
            <a:pPr marL="0" indent="0">
              <a:buNone/>
            </a:pPr>
            <a:r>
              <a:rPr lang="en-US" sz="1050" b="1" kern="0" spc="400" dirty="0">
                <a:solidFill>
                  <a:srgbClr val="E85D3C"/>
                </a:solidFill>
                <a:latin typeface="Calibri" pitchFamily="34" charset="0"/>
                <a:ea typeface="Calibri" pitchFamily="34" charset="-122"/>
                <a:cs typeface="Calibri" pitchFamily="34" charset="-120"/>
              </a:rPr>
              <a:t>RECOMMENDED  </a:t>
            </a:r>
            <a:r>
              <a:rPr lang="en-US" sz="1050" dirty="0">
                <a:solidFill>
                  <a:srgbClr val="FFFFFF"/>
                </a:solidFill>
                <a:latin typeface="Calibri" pitchFamily="34" charset="0"/>
                <a:ea typeface="Calibri" pitchFamily="34" charset="-122"/>
                <a:cs typeface="Calibri" pitchFamily="34" charset="-120"/>
              </a:rPr>
              <a:t>Seed these questions via PR articles, buyer forums, and FAQ content to build citation pathways across all major LLMs.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F1F3F"/>
        </a:solidFill>
        <a:effectLst/>
      </p:bgPr>
    </p:bg>
    <p:spTree>
      <p:nvGrpSpPr>
        <p:cNvPr id="1" name=""/>
        <p:cNvGrpSpPr/>
        <p:nvPr/>
      </p:nvGrpSpPr>
      <p:grpSpPr>
        <a:xfrm>
          <a:off x="0" y="0"/>
          <a:ext cx="0" cy="0"/>
          <a:chOff x="0" y="0"/>
          <a:chExt cx="0" cy="0"/>
        </a:xfrm>
      </p:grpSpPr>
      <p:sp>
        <p:nvSpPr>
          <p:cNvPr id="2" name="Text 0"/>
          <p:cNvSpPr/>
          <p:nvPr/>
        </p:nvSpPr>
        <p:spPr>
          <a:xfrm>
            <a:off x="609600" y="548640"/>
            <a:ext cx="10972800" cy="365760"/>
          </a:xfrm>
          <a:prstGeom prst="rect">
            <a:avLst/>
          </a:prstGeom>
          <a:noFill/>
          <a:ln/>
        </p:spPr>
        <p:txBody>
          <a:bodyPr wrap="square" lIns="0" tIns="0" rIns="0" bIns="0" rtlCol="0" anchor="ctr"/>
          <a:lstStyle/>
          <a:p>
            <a:pPr marL="0" indent="0">
              <a:buNone/>
            </a:pPr>
            <a:r>
              <a:rPr lang="en-US" sz="1200" b="1" kern="0" spc="600" dirty="0">
                <a:solidFill>
                  <a:srgbClr val="E85D3C"/>
                </a:solidFill>
                <a:latin typeface="Calibri" pitchFamily="34" charset="0"/>
                <a:ea typeface="Calibri" pitchFamily="34" charset="-122"/>
                <a:cs typeface="Calibri" pitchFamily="34" charset="-120"/>
              </a:rPr>
              <a:t>THE BOTTOM LINE</a:t>
            </a:r>
            <a:endParaRPr lang="en-US" sz="1200" dirty="0"/>
          </a:p>
        </p:txBody>
      </p:sp>
      <p:sp>
        <p:nvSpPr>
          <p:cNvPr id="3" name="Text 1"/>
          <p:cNvSpPr/>
          <p:nvPr/>
        </p:nvSpPr>
        <p:spPr>
          <a:xfrm>
            <a:off x="609600" y="1097280"/>
            <a:ext cx="109728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AI has already started telling our story.</a:t>
            </a:r>
            <a:endParaRPr lang="en-US" sz="4400" dirty="0"/>
          </a:p>
        </p:txBody>
      </p:sp>
      <p:sp>
        <p:nvSpPr>
          <p:cNvPr id="4" name="Text 2"/>
          <p:cNvSpPr/>
          <p:nvPr/>
        </p:nvSpPr>
        <p:spPr>
          <a:xfrm>
            <a:off x="609600" y="2057400"/>
            <a:ext cx="10972800" cy="640080"/>
          </a:xfrm>
          <a:prstGeom prst="rect">
            <a:avLst/>
          </a:prstGeom>
          <a:noFill/>
          <a:ln/>
        </p:spPr>
        <p:txBody>
          <a:bodyPr wrap="square" lIns="0" tIns="0" rIns="0" bIns="0" rtlCol="0" anchor="ctr"/>
          <a:lstStyle/>
          <a:p>
            <a:pPr marL="0" indent="0">
              <a:buNone/>
            </a:pPr>
            <a:r>
              <a:rPr lang="en-US" sz="2200" i="1" dirty="0">
                <a:solidFill>
                  <a:srgbClr val="CADCFC"/>
                </a:solidFill>
                <a:latin typeface="Calibri" pitchFamily="34" charset="0"/>
                <a:ea typeface="Calibri" pitchFamily="34" charset="-122"/>
                <a:cs typeface="Calibri" pitchFamily="34" charset="-120"/>
              </a:rPr>
              <a:t>On the surface where buyers actually search — in the framing we engineered.</a:t>
            </a:r>
            <a:endParaRPr lang="en-US" sz="2200" dirty="0"/>
          </a:p>
        </p:txBody>
      </p:sp>
      <p:sp>
        <p:nvSpPr>
          <p:cNvPr id="5" name="Shape 3"/>
          <p:cNvSpPr/>
          <p:nvPr/>
        </p:nvSpPr>
        <p:spPr>
          <a:xfrm>
            <a:off x="609600" y="3566160"/>
            <a:ext cx="3657600" cy="1920240"/>
          </a:xfrm>
          <a:prstGeom prst="rect">
            <a:avLst/>
          </a:prstGeom>
          <a:solidFill>
            <a:srgbClr val="081530"/>
          </a:solidFill>
          <a:ln w="12700">
            <a:solidFill>
              <a:srgbClr val="E85D3C"/>
            </a:solidFill>
            <a:prstDash val="solid"/>
          </a:ln>
        </p:spPr>
        <p:txBody>
          <a:bodyPr/>
          <a:lstStyle/>
          <a:p>
            <a:endParaRPr lang="en-US"/>
          </a:p>
        </p:txBody>
      </p:sp>
      <p:sp>
        <p:nvSpPr>
          <p:cNvPr id="6" name="Text 4"/>
          <p:cNvSpPr/>
          <p:nvPr/>
        </p:nvSpPr>
        <p:spPr>
          <a:xfrm>
            <a:off x="883920" y="3840480"/>
            <a:ext cx="3108960" cy="822960"/>
          </a:xfrm>
          <a:prstGeom prst="rect">
            <a:avLst/>
          </a:prstGeom>
          <a:noFill/>
          <a:ln/>
        </p:spPr>
        <p:txBody>
          <a:bodyPr wrap="square" lIns="0" tIns="0" rIns="0" bIns="0" rtlCol="0" anchor="ctr"/>
          <a:lstStyle/>
          <a:p>
            <a:pPr marL="0" indent="0">
              <a:buNone/>
            </a:pPr>
            <a:r>
              <a:rPr lang="en-US" sz="4200" b="1" dirty="0">
                <a:solidFill>
                  <a:srgbClr val="E85D3C"/>
                </a:solidFill>
                <a:latin typeface="Calibri" pitchFamily="34" charset="0"/>
                <a:ea typeface="Calibri" pitchFamily="34" charset="-122"/>
                <a:cs typeface="Calibri" pitchFamily="34" charset="-120"/>
              </a:rPr>
              <a:t>#1</a:t>
            </a:r>
            <a:endParaRPr lang="en-US" sz="4200" dirty="0"/>
          </a:p>
        </p:txBody>
      </p:sp>
      <p:sp>
        <p:nvSpPr>
          <p:cNvPr id="7" name="Text 5"/>
          <p:cNvSpPr/>
          <p:nvPr/>
        </p:nvSpPr>
        <p:spPr>
          <a:xfrm>
            <a:off x="883920" y="4754880"/>
            <a:ext cx="3108960" cy="6400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Citation slot for narrative queries on Google AI Mode</a:t>
            </a:r>
            <a:endParaRPr lang="en-US" sz="1200" dirty="0"/>
          </a:p>
        </p:txBody>
      </p:sp>
      <p:sp>
        <p:nvSpPr>
          <p:cNvPr id="8" name="Shape 6"/>
          <p:cNvSpPr/>
          <p:nvPr/>
        </p:nvSpPr>
        <p:spPr>
          <a:xfrm>
            <a:off x="4450080" y="3566160"/>
            <a:ext cx="3657600" cy="1920240"/>
          </a:xfrm>
          <a:prstGeom prst="rect">
            <a:avLst/>
          </a:prstGeom>
          <a:solidFill>
            <a:srgbClr val="081530"/>
          </a:solidFill>
          <a:ln w="12700">
            <a:solidFill>
              <a:srgbClr val="E85D3C"/>
            </a:solidFill>
            <a:prstDash val="solid"/>
          </a:ln>
        </p:spPr>
        <p:txBody>
          <a:bodyPr/>
          <a:lstStyle/>
          <a:p>
            <a:endParaRPr lang="en-US"/>
          </a:p>
        </p:txBody>
      </p:sp>
      <p:sp>
        <p:nvSpPr>
          <p:cNvPr id="9" name="Text 7"/>
          <p:cNvSpPr/>
          <p:nvPr/>
        </p:nvSpPr>
        <p:spPr>
          <a:xfrm>
            <a:off x="4724400" y="3840480"/>
            <a:ext cx="3108960" cy="822960"/>
          </a:xfrm>
          <a:prstGeom prst="rect">
            <a:avLst/>
          </a:prstGeom>
          <a:noFill/>
          <a:ln/>
        </p:spPr>
        <p:txBody>
          <a:bodyPr wrap="square" lIns="0" tIns="0" rIns="0" bIns="0" rtlCol="0" anchor="ctr"/>
          <a:lstStyle/>
          <a:p>
            <a:pPr marL="0" indent="0">
              <a:buNone/>
            </a:pPr>
            <a:r>
              <a:rPr lang="en-US" sz="4200" b="1" dirty="0">
                <a:solidFill>
                  <a:srgbClr val="E85D3C"/>
                </a:solidFill>
                <a:latin typeface="Calibri" pitchFamily="34" charset="0"/>
                <a:ea typeface="Calibri" pitchFamily="34" charset="-122"/>
                <a:cs typeface="Calibri" pitchFamily="34" charset="-120"/>
              </a:rPr>
              <a:t>8 + 14</a:t>
            </a:r>
            <a:endParaRPr lang="en-US" sz="4200" dirty="0"/>
          </a:p>
        </p:txBody>
      </p:sp>
      <p:sp>
        <p:nvSpPr>
          <p:cNvPr id="10" name="Text 8"/>
          <p:cNvSpPr/>
          <p:nvPr/>
        </p:nvSpPr>
        <p:spPr>
          <a:xfrm>
            <a:off x="4724400" y="4754880"/>
            <a:ext cx="3108960" cy="6400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AI-cited sources where Godrej is the lead citation</a:t>
            </a:r>
            <a:endParaRPr lang="en-US" sz="1200" dirty="0"/>
          </a:p>
        </p:txBody>
      </p:sp>
      <p:sp>
        <p:nvSpPr>
          <p:cNvPr id="11" name="Shape 9"/>
          <p:cNvSpPr/>
          <p:nvPr/>
        </p:nvSpPr>
        <p:spPr>
          <a:xfrm>
            <a:off x="8290560" y="3566160"/>
            <a:ext cx="3657600" cy="1920240"/>
          </a:xfrm>
          <a:prstGeom prst="rect">
            <a:avLst/>
          </a:prstGeom>
          <a:solidFill>
            <a:srgbClr val="081530"/>
          </a:solidFill>
          <a:ln w="12700">
            <a:solidFill>
              <a:srgbClr val="E85D3C"/>
            </a:solidFill>
            <a:prstDash val="solid"/>
          </a:ln>
        </p:spPr>
        <p:txBody>
          <a:bodyPr/>
          <a:lstStyle/>
          <a:p>
            <a:endParaRPr lang="en-US"/>
          </a:p>
        </p:txBody>
      </p:sp>
      <p:sp>
        <p:nvSpPr>
          <p:cNvPr id="12" name="Text 10"/>
          <p:cNvSpPr/>
          <p:nvPr/>
        </p:nvSpPr>
        <p:spPr>
          <a:xfrm>
            <a:off x="8564880" y="3840480"/>
            <a:ext cx="3108960" cy="822960"/>
          </a:xfrm>
          <a:prstGeom prst="rect">
            <a:avLst/>
          </a:prstGeom>
          <a:noFill/>
          <a:ln/>
        </p:spPr>
        <p:txBody>
          <a:bodyPr wrap="square" lIns="0" tIns="0" rIns="0" bIns="0" rtlCol="0" anchor="ctr"/>
          <a:lstStyle/>
          <a:p>
            <a:pPr marL="0" indent="0">
              <a:buNone/>
            </a:pPr>
            <a:r>
              <a:rPr lang="en-US" sz="4200" b="1" dirty="0">
                <a:solidFill>
                  <a:srgbClr val="E85D3C"/>
                </a:solidFill>
                <a:latin typeface="Calibri" pitchFamily="34" charset="0"/>
                <a:ea typeface="Calibri" pitchFamily="34" charset="-122"/>
                <a:cs typeface="Calibri" pitchFamily="34" charset="-120"/>
              </a:rPr>
              <a:t>2-3 days</a:t>
            </a:r>
            <a:endParaRPr lang="en-US" sz="4200" dirty="0"/>
          </a:p>
        </p:txBody>
      </p:sp>
      <p:sp>
        <p:nvSpPr>
          <p:cNvPr id="13" name="Text 11"/>
          <p:cNvSpPr/>
          <p:nvPr/>
        </p:nvSpPr>
        <p:spPr>
          <a:xfrm>
            <a:off x="8564880" y="4754880"/>
            <a:ext cx="3108960" cy="6400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From page-live to lead AI citation — outpacing the curve</a:t>
            </a:r>
            <a:endParaRPr lang="en-US" sz="1200" dirty="0"/>
          </a:p>
        </p:txBody>
      </p:sp>
      <p:sp>
        <p:nvSpPr>
          <p:cNvPr id="14" name="Shape 12"/>
          <p:cNvSpPr/>
          <p:nvPr/>
        </p:nvSpPr>
        <p:spPr>
          <a:xfrm>
            <a:off x="609600" y="5806440"/>
            <a:ext cx="1371600" cy="36576"/>
          </a:xfrm>
          <a:prstGeom prst="rect">
            <a:avLst/>
          </a:prstGeom>
          <a:solidFill>
            <a:srgbClr val="E85D3C"/>
          </a:solidFill>
          <a:ln/>
        </p:spPr>
        <p:txBody>
          <a:bodyPr/>
          <a:lstStyle/>
          <a:p>
            <a:endParaRPr lang="en-US"/>
          </a:p>
        </p:txBody>
      </p:sp>
      <p:sp>
        <p:nvSpPr>
          <p:cNvPr id="15" name="Text 13"/>
          <p:cNvSpPr/>
          <p:nvPr/>
        </p:nvSpPr>
        <p:spPr>
          <a:xfrm>
            <a:off x="609600" y="5943600"/>
            <a:ext cx="7315200" cy="274320"/>
          </a:xfrm>
          <a:prstGeom prst="rect">
            <a:avLst/>
          </a:prstGeom>
          <a:noFill/>
          <a:ln/>
        </p:spPr>
        <p:txBody>
          <a:bodyPr wrap="square" lIns="0" tIns="0" rIns="0" bIns="0" rtlCol="0" anchor="ctr"/>
          <a:lstStyle/>
          <a:p>
            <a:pPr marL="0" indent="0">
              <a:buNone/>
            </a:pPr>
            <a:r>
              <a:rPr lang="en-US" sz="1200" kern="0" spc="200" dirty="0">
                <a:solidFill>
                  <a:srgbClr val="CADCFC"/>
                </a:solidFill>
                <a:latin typeface="Calibri" pitchFamily="34" charset="0"/>
                <a:ea typeface="Calibri" pitchFamily="34" charset="-122"/>
                <a:cs typeface="Calibri" pitchFamily="34" charset="-120"/>
              </a:rPr>
              <a:t>Thank you – Delivered &amp; Led by Vansh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189e4fd-a2fa-47bf-9b21-17f706ee2968}" enabled="1" method="Privilege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1</TotalTime>
  <Words>2428</Words>
  <Application>Microsoft Macintosh PowerPoint</Application>
  <PresentationFormat>Widescreen</PresentationFormat>
  <Paragraphs>257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Godrej 1% Plan — GEO Results &amp; Narrative Shift</dc:title>
  <dc:subject>PptxGenJS Presentation</dc:subject>
  <dc:creator>GEO Team</dc:creator>
  <cp:lastModifiedBy>Prerak Sethia (prsethia)</cp:lastModifiedBy>
  <cp:revision>4</cp:revision>
  <dcterms:created xsi:type="dcterms:W3CDTF">2026-04-29T15:03:08Z</dcterms:created>
  <dcterms:modified xsi:type="dcterms:W3CDTF">2026-04-30T03:18:32Z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vt:lpwstr>
  </property>
</Properties>
</file>